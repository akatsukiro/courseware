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64" r:id="rId3"/>
    <p:sldId id="540" r:id="rId4"/>
    <p:sldId id="555" r:id="rId5"/>
    <p:sldId id="553" r:id="rId6"/>
    <p:sldId id="556" r:id="rId7"/>
    <p:sldId id="554" r:id="rId8"/>
    <p:sldId id="559" r:id="rId9"/>
    <p:sldId id="596" r:id="rId10"/>
    <p:sldId id="583" r:id="rId11"/>
    <p:sldId id="582" r:id="rId12"/>
    <p:sldId id="561" r:id="rId13"/>
    <p:sldId id="587" r:id="rId14"/>
    <p:sldId id="560" r:id="rId15"/>
    <p:sldId id="562" r:id="rId16"/>
    <p:sldId id="597" r:id="rId17"/>
    <p:sldId id="585" r:id="rId18"/>
    <p:sldId id="563" r:id="rId19"/>
    <p:sldId id="575" r:id="rId20"/>
    <p:sldId id="576" r:id="rId21"/>
    <p:sldId id="578" r:id="rId22"/>
    <p:sldId id="577" r:id="rId23"/>
    <p:sldId id="588" r:id="rId24"/>
    <p:sldId id="589" r:id="rId25"/>
    <p:sldId id="579" r:id="rId26"/>
    <p:sldId id="598" r:id="rId27"/>
    <p:sldId id="580" r:id="rId28"/>
    <p:sldId id="594" r:id="rId29"/>
    <p:sldId id="591" r:id="rId30"/>
    <p:sldId id="592" r:id="rId31"/>
    <p:sldId id="593" r:id="rId3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Font typeface="Arial" panose="020B0604020202020204" pitchFamily="34" charset="0"/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Font typeface="Arial" panose="020B0604020202020204" pitchFamily="34" charset="0"/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Font typeface="Arial" panose="020B0604020202020204" pitchFamily="34" charset="0"/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Font typeface="Arial" panose="020B0604020202020204" pitchFamily="34" charset="0"/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Font typeface="Arial" panose="020B0604020202020204" pitchFamily="34" charset="0"/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Font typeface="Arial" panose="020B0604020202020204" pitchFamily="34" charset="0"/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Font typeface="Arial" panose="020B0604020202020204" pitchFamily="34" charset="0"/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Font typeface="Arial" panose="020B0604020202020204" pitchFamily="34" charset="0"/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Font typeface="Arial" panose="020B0604020202020204" pitchFamily="34" charset="0"/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99CCFF"/>
    <a:srgbClr val="339933"/>
    <a:srgbClr val="00FFCC"/>
    <a:srgbClr val="FF33CC"/>
    <a:srgbClr val="0000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16961"/>
    <p:restoredTop sz="94117"/>
  </p:normalViewPr>
  <p:slideViewPr>
    <p:cSldViewPr showGuides="1">
      <p:cViewPr>
        <p:scale>
          <a:sx n="50" d="100"/>
          <a:sy n="50" d="100"/>
        </p:scale>
        <p:origin x="-1722" y="-450"/>
      </p:cViewPr>
      <p:guideLst>
        <p:guide orient="horz" pos="213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32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ctr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32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ctr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32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ctr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32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ctr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32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ctr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32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ctr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32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ctr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32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6" name="矩形 408581"/>
          <p:cNvSpPr/>
          <p:nvPr/>
        </p:nvSpPr>
        <p:spPr>
          <a:xfrm>
            <a:off x="323850" y="1700213"/>
            <a:ext cx="8459788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 altLang="zh-CN" sz="3600" b="1" dirty="0">
              <a:latin typeface="Times New Roman" panose="02020603050405020304" pitchFamily="18" charset="0"/>
            </a:endParaRPr>
          </a:p>
          <a:p>
            <a:r>
              <a:rPr lang="en-US" altLang="zh-CN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6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文言实词意义推断</a:t>
            </a:r>
            <a:endParaRPr lang="zh-CN" altLang="en-US" sz="66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27" name="图片 408582" descr="117898~1"/>
          <p:cNvPicPr>
            <a:picLocks noChangeAspect="1"/>
          </p:cNvPicPr>
          <p:nvPr/>
        </p:nvPicPr>
        <p:blipFill>
          <a:blip r:embed="rId1"/>
          <a:srcRect b="13651"/>
          <a:stretch>
            <a:fillRect/>
          </a:stretch>
        </p:blipFill>
        <p:spPr>
          <a:xfrm>
            <a:off x="0" y="2017713"/>
            <a:ext cx="684213" cy="4840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408581"/>
          <p:cNvSpPr/>
          <p:nvPr/>
        </p:nvSpPr>
        <p:spPr>
          <a:xfrm>
            <a:off x="0" y="836613"/>
            <a:ext cx="8820150" cy="452596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   其于知友故旧</a:t>
            </a:r>
            <a:r>
              <a:rPr lang="zh-CN" altLang="en-US" sz="36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殁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后衰落，相</a:t>
            </a:r>
            <a:r>
              <a:rPr lang="zh-CN" altLang="en-US" sz="36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存问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过于生前，</a:t>
            </a:r>
            <a:r>
              <a:rPr lang="zh-CN" altLang="en-US" sz="36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盖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其性之</a:t>
            </a:r>
            <a:r>
              <a:rPr lang="zh-CN" altLang="en-US" sz="36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笃厚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然也。 </a:t>
            </a:r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en-US" altLang="zh-CN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——2017</a:t>
            </a:r>
            <a:r>
              <a:rPr lang="zh-CN" altLang="en-US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江苏</a:t>
            </a:r>
            <a:r>
              <a:rPr lang="en-US" altLang="zh-CN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汪容甫先生行状》</a:t>
            </a:r>
            <a:endParaRPr lang="zh-CN" altLang="en-US" b="1" dirty="0">
              <a:solidFill>
                <a:srgbClr val="0000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</a:rPr>
              <a:t>      </a:t>
            </a:r>
            <a:r>
              <a:rPr lang="zh-CN" altLang="zh-CN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或以贫窭有</a:t>
            </a:r>
            <a:r>
              <a:rPr lang="zh-CN" altLang="zh-CN" sz="36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干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，即与粟贷钱，无</a:t>
            </a:r>
            <a:r>
              <a:rPr lang="zh-CN" altLang="en-US" sz="36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靳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色。</a:t>
            </a:r>
            <a:r>
              <a:rPr lang="en-US" altLang="zh-CN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        </a:t>
            </a:r>
            <a:endParaRPr lang="en-US" altLang="zh-CN" sz="36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en-US" altLang="zh-CN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《元故楼主簿行状》</a:t>
            </a:r>
            <a:endParaRPr lang="zh-CN" altLang="en-US" b="1" dirty="0">
              <a:solidFill>
                <a:srgbClr val="0000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600" b="1" dirty="0">
                <a:latin typeface="Times New Roman" panose="02020603050405020304" pitchFamily="18" charset="0"/>
              </a:rPr>
              <a:t>         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pic>
        <p:nvPicPr>
          <p:cNvPr id="2051" name="图片 408582" descr="117898~1"/>
          <p:cNvPicPr>
            <a:picLocks noChangeAspect="1"/>
          </p:cNvPicPr>
          <p:nvPr/>
        </p:nvPicPr>
        <p:blipFill>
          <a:blip r:embed="rId1"/>
          <a:srcRect b="13651"/>
          <a:stretch>
            <a:fillRect/>
          </a:stretch>
        </p:blipFill>
        <p:spPr>
          <a:xfrm>
            <a:off x="0" y="2017713"/>
            <a:ext cx="684213" cy="4840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348038" y="5300663"/>
            <a:ext cx="4854575" cy="823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4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积累是</a:t>
            </a:r>
            <a:r>
              <a:rPr lang="en-US" altLang="zh-CN" sz="48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4800" b="1" dirty="0">
                <a:solidFill>
                  <a:srgbClr val="FF33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王道</a:t>
            </a:r>
            <a:r>
              <a:rPr lang="en-US" altLang="zh-CN" sz="48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endParaRPr lang="en-US" altLang="zh-CN" sz="4800" b="1" dirty="0">
              <a:solidFill>
                <a:srgbClr val="FF33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内容占位符 2"/>
          <p:cNvSpPr>
            <a:spLocks noGrp="1"/>
          </p:cNvSpPr>
          <p:nvPr>
            <p:ph idx="1"/>
          </p:nvPr>
        </p:nvSpPr>
        <p:spPr>
          <a:xfrm>
            <a:off x="428625" y="333375"/>
            <a:ext cx="8229600" cy="452596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3600" b="1" dirty="0"/>
              <a:t>荆轲知太子不忍，乃遂私见樊於期，曰：“秦之</a:t>
            </a:r>
            <a:r>
              <a:rPr lang="zh-CN" altLang="en-US" sz="3600" b="1" dirty="0">
                <a:solidFill>
                  <a:srgbClr val="FF3300"/>
                </a:solidFill>
              </a:rPr>
              <a:t>遇</a:t>
            </a:r>
            <a:r>
              <a:rPr lang="zh-CN" altLang="en-US" sz="3600" b="1" dirty="0"/>
              <a:t>将军，可谓</a:t>
            </a:r>
            <a:r>
              <a:rPr lang="zh-CN" altLang="en-US" sz="3600" b="1" dirty="0">
                <a:solidFill>
                  <a:schemeClr val="accent2"/>
                </a:solidFill>
              </a:rPr>
              <a:t>深</a:t>
            </a:r>
            <a:r>
              <a:rPr lang="zh-CN" altLang="en-US" sz="3600" b="1" dirty="0"/>
              <a:t>矣。父母宗族，皆为戮没。今闻</a:t>
            </a:r>
            <a:r>
              <a:rPr lang="zh-CN" altLang="en-US" sz="3600" b="1" dirty="0">
                <a:solidFill>
                  <a:srgbClr val="FF3300"/>
                </a:solidFill>
              </a:rPr>
              <a:t>购</a:t>
            </a:r>
            <a:r>
              <a:rPr lang="zh-CN" altLang="en-US" sz="3600" b="1" dirty="0"/>
              <a:t>将军之首，金千斤，邑万家，将奈何？”</a:t>
            </a:r>
            <a:endParaRPr lang="zh-CN" altLang="en-US" sz="3600" b="1" dirty="0"/>
          </a:p>
          <a:p>
            <a:pPr eaLnBrk="1" hangingPunct="1"/>
            <a:r>
              <a:rPr lang="zh-CN" altLang="en-US" sz="3600" b="1" dirty="0"/>
              <a:t>                                 </a:t>
            </a:r>
            <a:r>
              <a:rPr lang="en-US" altLang="zh-CN" sz="3600" b="1" dirty="0"/>
              <a:t>——</a:t>
            </a:r>
            <a:r>
              <a:rPr lang="zh-CN" altLang="en-US" sz="3600" b="1" dirty="0"/>
              <a:t>《刺客列传》</a:t>
            </a:r>
            <a:endParaRPr lang="zh-CN" altLang="en-US" sz="3600" b="1" dirty="0"/>
          </a:p>
        </p:txBody>
      </p:sp>
      <p:sp>
        <p:nvSpPr>
          <p:cNvPr id="2" name="文本框 3"/>
          <p:cNvSpPr txBox="1"/>
          <p:nvPr/>
        </p:nvSpPr>
        <p:spPr>
          <a:xfrm>
            <a:off x="3957638" y="3644900"/>
            <a:ext cx="5165725" cy="823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4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语境是</a:t>
            </a:r>
            <a:r>
              <a:rPr lang="en-US" altLang="zh-CN" sz="4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4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依据</a:t>
            </a:r>
            <a:r>
              <a:rPr lang="en-US" altLang="zh-CN" sz="4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”</a:t>
            </a:r>
            <a:endParaRPr lang="en-US" altLang="zh-CN" sz="4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1331913" y="4724400"/>
            <a:ext cx="6840537" cy="19446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/>
            <a:r>
              <a:rPr lang="zh-CN" altLang="en-US" sz="4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字不离词，词不离句，</a:t>
            </a:r>
            <a:endParaRPr lang="zh-CN" altLang="en-US" sz="4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/>
            <a:r>
              <a:rPr lang="zh-CN" altLang="en-US" sz="4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句不离段，段不离文。</a:t>
            </a:r>
            <a:endParaRPr lang="zh-CN" altLang="en-US" sz="4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内容占位符 2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452596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例1：隆庆时，绍兴岑郡侯有姬方娠。一人偶冲道，缚至府，问曰：“</a:t>
            </a:r>
            <a:r>
              <a:rPr lang="zh-CN" altLang="en-US" sz="4000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汝何业</a:t>
            </a: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？”曰：“卖卜。”岑曰：“我夫人有娠,</a:t>
            </a:r>
            <a:r>
              <a:rPr lang="zh-CN" altLang="en-US" sz="4000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弄璋</a:t>
            </a: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乎？</a:t>
            </a:r>
            <a:r>
              <a:rPr lang="zh-CN" altLang="en-US" sz="4000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弄瓦</a:t>
            </a: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乎？”其人不识所谓，漫应之曰：“璋也弄，瓦也弄。”怒而责之。未己，果双生一男一女，卜者名大著。</a:t>
            </a:r>
            <a:endParaRPr lang="zh-CN" altLang="en-US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内容占位符 2"/>
          <p:cNvSpPr>
            <a:spLocks noGrp="1"/>
          </p:cNvSpPr>
          <p:nvPr>
            <p:ph idx="1"/>
          </p:nvPr>
        </p:nvSpPr>
        <p:spPr>
          <a:xfrm>
            <a:off x="374650" y="1341438"/>
            <a:ext cx="8229600" cy="45275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例2：然世未有见虎而不惧者……然</a:t>
            </a:r>
            <a:r>
              <a:rPr lang="zh-CN" altLang="en-US" sz="4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曩</a:t>
            </a: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余闻云安多虎，有妇人昼日置二小儿沙上而浣衣于水者，虎自山上驰来，二小儿戏沙上自若。虎熟视久之，至以首觝触，</a:t>
            </a:r>
            <a:r>
              <a:rPr lang="zh-CN" altLang="en-US" sz="4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庶几</a:t>
            </a: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其一惧，而儿痴，竟不知怪，虎亦卒去。</a:t>
            </a:r>
            <a:endParaRPr lang="zh-CN" altLang="en-US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内容占位符 2"/>
          <p:cNvSpPr>
            <a:spLocks noGrp="1"/>
          </p:cNvSpPr>
          <p:nvPr>
            <p:ph idx="1"/>
          </p:nvPr>
        </p:nvSpPr>
        <p:spPr>
          <a:xfrm>
            <a:off x="457200" y="1797050"/>
            <a:ext cx="8229600" cy="45275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：齐武帝子琅邪王，太子母弟也。生而聪慧，帝及后并笃爱之，衣服饮食， 与东宫相准。帝每面称之曰：“此</a:t>
            </a:r>
            <a:r>
              <a:rPr lang="zh-CN" altLang="en-US" sz="4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黠儿</a:t>
            </a:r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也，当有所成。”</a:t>
            </a:r>
            <a:endParaRPr lang="zh-CN" altLang="en-US" sz="4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zh-CN" altLang="en-US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 bwMode="auto">
          <a:xfrm>
            <a:off x="179388" y="188913"/>
            <a:ext cx="8691563" cy="6669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方法是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参考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其系燕父子以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组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王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怒曰：“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劓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之。”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家人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瞷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 </a:t>
            </a: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ji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à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)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见者，悉惊愕。</a:t>
            </a:r>
            <a:endParaRPr kumimoji="0" lang="zh-CN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不能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人之孤而杀之。</a:t>
            </a:r>
            <a:endParaRPr kumimoji="0" lang="zh-CN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臣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父母春秋高，冀得一归</a:t>
            </a:r>
            <a:r>
              <a:rPr kumimoji="0" lang="zh-CN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觐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牧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人御众之才（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06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天津卷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、君径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造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袁所寓之法华寺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、可以独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飨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白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粲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 bwMode="auto">
          <a:xfrm>
            <a:off x="273050" y="560388"/>
            <a:ext cx="8691563" cy="5289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方法是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参考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方法一：字形推断法</a:t>
            </a:r>
            <a:endParaRPr kumimoji="0" lang="zh-CN" alt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汉字中的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形声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字占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70%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以上，形声字的形旁有表意的功能。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会意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字则本身就表意。</a:t>
            </a:r>
            <a:endParaRPr kumimoji="0" lang="zh-CN" alt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Text Box 2"/>
          <p:cNvSpPr txBox="1"/>
          <p:nvPr/>
        </p:nvSpPr>
        <p:spPr>
          <a:xfrm>
            <a:off x="395288" y="1030288"/>
            <a:ext cx="8353425" cy="49196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牧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人御众之才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06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天津卷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该句中的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牧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是一个左右结构的会意字，左为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牛（泛指牲畜）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，右为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人手中拿着一条鞭子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，把两者的意思联系起来，就是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放牧牲畜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；引申一下，对象如果是人，自然就是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</a:t>
            </a: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统治，治理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”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之意了。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>
                                            <p:txEl>
                                              <p:charRg st="1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1">
                                            <p:txEl>
                                              <p:charRg st="1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1">
                                            <p:txEl>
                                              <p:charRg st="1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9" name="Text Box 3"/>
          <p:cNvSpPr txBox="1"/>
          <p:nvPr/>
        </p:nvSpPr>
        <p:spPr>
          <a:xfrm>
            <a:off x="642938" y="549275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fontAlgn="t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①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可以独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飨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白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粲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0" name="Text Box 4"/>
          <p:cNvSpPr txBox="1"/>
          <p:nvPr/>
        </p:nvSpPr>
        <p:spPr>
          <a:xfrm>
            <a:off x="684213" y="1341438"/>
            <a:ext cx="76327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fontAlgn="t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飨，右边是“食”，大概是“食用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享受”。粲，下边是“米”，大概是米一类的东西。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01" name="Text Box 5"/>
          <p:cNvSpPr txBox="1"/>
          <p:nvPr/>
        </p:nvSpPr>
        <p:spPr>
          <a:xfrm>
            <a:off x="611188" y="2636838"/>
            <a:ext cx="70580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fontAlgn="t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②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王怒曰：“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劓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之。”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2" name="Text Box 6"/>
          <p:cNvSpPr txBox="1"/>
          <p:nvPr/>
        </p:nvSpPr>
        <p:spPr>
          <a:xfrm>
            <a:off x="684213" y="3500438"/>
            <a:ext cx="741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fontAlgn="t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劓：割掉鼻子。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04" name="Text Box 8"/>
          <p:cNvSpPr txBox="1"/>
          <p:nvPr/>
        </p:nvSpPr>
        <p:spPr>
          <a:xfrm>
            <a:off x="611188" y="4508500"/>
            <a:ext cx="41767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③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君径</a:t>
            </a:r>
            <a:r>
              <a:rPr lang="zh-CN" altLang="en-US" sz="2800" b="1" u="sng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造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袁所寓之法华寺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5" name="Text Box 9"/>
          <p:cNvSpPr txBox="1"/>
          <p:nvPr/>
        </p:nvSpPr>
        <p:spPr>
          <a:xfrm>
            <a:off x="684213" y="5373688"/>
            <a:ext cx="82804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造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的义符为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辶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，联系下文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""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袁所寓之法华寺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，不难推测与处所关联的词义应该是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""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去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的意思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00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101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10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4" grpId="0"/>
      <p:bldP spid="410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文本框 216065"/>
          <p:cNvSpPr txBox="1"/>
          <p:nvPr/>
        </p:nvSpPr>
        <p:spPr>
          <a:xfrm>
            <a:off x="250825" y="4763"/>
            <a:ext cx="8424863" cy="6042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部分偏旁与字义的关系：</a:t>
            </a:r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钅（古代主要指金属）、木、氵、火、土</a:t>
            </a:r>
            <a:endParaRPr lang="zh-CN" altLang="en-US" sz="30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    </a:t>
            </a:r>
            <a:r>
              <a:rPr lang="en-US" altLang="zh-CN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与五行有关</a:t>
            </a:r>
            <a:endParaRPr lang="zh-CN" altLang="en-US" sz="3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刂（刀）、弓、矛、戈、斤（斧）、殳（</a:t>
            </a:r>
            <a:r>
              <a:rPr lang="en-US" altLang="zh-CN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shū</a:t>
            </a:r>
            <a:r>
              <a:rPr lang="zh-CN" altLang="en-US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30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     </a:t>
            </a:r>
            <a:r>
              <a:rPr lang="en-US" altLang="zh-CN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与兵器有关</a:t>
            </a:r>
            <a:endParaRPr lang="zh-CN" altLang="en-US" sz="3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马、牛、羊、豕</a:t>
            </a:r>
            <a:r>
              <a:rPr lang="en-US" altLang="zh-CN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 </a:t>
            </a:r>
            <a:r>
              <a:rPr lang="zh-CN" altLang="en-US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、犭、</a:t>
            </a:r>
            <a:r>
              <a:rPr lang="en-US" altLang="zh-CN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 </a:t>
            </a:r>
            <a:r>
              <a:rPr lang="zh-CN" altLang="en-US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鸟、虫</a:t>
            </a:r>
            <a:endParaRPr lang="zh-CN" altLang="en-US" sz="30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     </a:t>
            </a:r>
            <a:r>
              <a:rPr lang="en-US" altLang="zh-CN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与动物有关</a:t>
            </a:r>
            <a:r>
              <a:rPr lang="en-US" altLang="zh-CN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 </a:t>
            </a:r>
            <a:endParaRPr lang="en-US" altLang="zh-CN" sz="30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辶（走）、彳（行）、忄（心）、讠（言）</a:t>
            </a:r>
            <a:endParaRPr lang="zh-CN" altLang="en-US" sz="30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     </a:t>
            </a:r>
            <a:r>
              <a:rPr lang="en-US" altLang="zh-CN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与人的行为有关</a:t>
            </a:r>
            <a:endParaRPr lang="zh-CN" altLang="en-US" sz="3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br>
              <a:rPr lang="zh-CN" altLang="en-US" sz="3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lang="zh-CN" altLang="en-US" sz="30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267" name="文本框 216066"/>
          <p:cNvSpPr txBox="1"/>
          <p:nvPr/>
        </p:nvSpPr>
        <p:spPr>
          <a:xfrm>
            <a:off x="144463" y="4984750"/>
            <a:ext cx="8820150" cy="2332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b="1" dirty="0">
                <a:solidFill>
                  <a:srgbClr val="00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b="1" dirty="0">
                <a:solidFill>
                  <a:srgbClr val="00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禾”与五谷有关；“贝”与金钱有关；</a:t>
            </a:r>
            <a:endParaRPr lang="zh-CN" altLang="en-US" b="1" dirty="0">
              <a:solidFill>
                <a:srgbClr val="0033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“皿”与器具有关；</a:t>
            </a:r>
            <a:endParaRPr lang="zh-CN" altLang="en-US" b="1" dirty="0">
              <a:solidFill>
                <a:srgbClr val="0033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00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“自”关鼻，“目”关眼</a:t>
            </a:r>
            <a:r>
              <a:rPr lang="en-US" altLang="zh-CN" b="1" dirty="0">
                <a:solidFill>
                  <a:srgbClr val="00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  <a:endParaRPr lang="en-US" altLang="zh-CN" b="1" dirty="0">
              <a:solidFill>
                <a:srgbClr val="0033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strips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2"/>
          <p:cNvSpPr txBox="1"/>
          <p:nvPr/>
        </p:nvSpPr>
        <p:spPr>
          <a:xfrm>
            <a:off x="395288" y="333375"/>
            <a:ext cx="8104187" cy="5883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宰臣上</a:t>
            </a:r>
            <a:r>
              <a:rPr lang="zh-CN" altLang="zh-CN" sz="4000" b="1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炙</a:t>
            </a:r>
            <a:r>
              <a:rPr lang="zh-CN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而发绕之。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暮归，忘其牛，父怒</a:t>
            </a:r>
            <a:r>
              <a:rPr lang="zh-CN" altLang="zh-CN" sz="4000" b="1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挞</a:t>
            </a:r>
            <a:r>
              <a:rPr lang="zh-CN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之。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富翁某，商贾多贷其</a:t>
            </a:r>
            <a:r>
              <a:rPr lang="zh-CN" altLang="zh-CN" sz="4000" b="1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赀</a:t>
            </a:r>
            <a:r>
              <a:rPr lang="zh-CN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4000" b="1" dirty="0">
                <a:latin typeface="Times New Roman" panose="02020603050405020304" pitchFamily="18" charset="0"/>
              </a:rPr>
              <a:t>4 </a:t>
            </a:r>
            <a:r>
              <a:rPr lang="zh-CN" altLang="en-US" sz="4000" b="1" dirty="0">
                <a:latin typeface="Times New Roman" panose="02020603050405020304" pitchFamily="18" charset="0"/>
              </a:rPr>
              <a:t>、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生而</a:t>
            </a:r>
            <a:r>
              <a:rPr lang="zh-CN" altLang="en-US" sz="4000" b="1" u="sng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眇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者不识日，问之有目者。</a:t>
            </a:r>
            <a:endParaRPr lang="zh-CN" altLang="zh-CN" sz="40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6371" name="Text Box 3"/>
          <p:cNvSpPr txBox="1"/>
          <p:nvPr/>
        </p:nvSpPr>
        <p:spPr>
          <a:xfrm>
            <a:off x="1979613" y="1411288"/>
            <a:ext cx="3567112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（烤肉）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6372" name="Text Box 4"/>
          <p:cNvSpPr txBox="1"/>
          <p:nvPr/>
        </p:nvSpPr>
        <p:spPr>
          <a:xfrm>
            <a:off x="5354638" y="2924175"/>
            <a:ext cx="224155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（打）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6374" name="Rectangle 6"/>
          <p:cNvSpPr>
            <a:spLocks noChangeArrowheads="1"/>
          </p:cNvSpPr>
          <p:nvPr/>
        </p:nvSpPr>
        <p:spPr bwMode="auto">
          <a:xfrm>
            <a:off x="539750" y="0"/>
            <a:ext cx="2601913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000" b="1" i="1" u="none" strike="noStrike" kern="1200" cap="none" spc="0" normalizeH="0" baseline="0" noProof="1">
                <a:ln>
                  <a:noFill/>
                </a:ln>
                <a:solidFill>
                  <a:srgbClr val="80008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itchFamily="49" charset="-122"/>
                <a:cs typeface="+mn-cs"/>
              </a:rPr>
              <a:t>练练看：</a:t>
            </a:r>
            <a:endParaRPr kumimoji="0" lang="zh-CN" altLang="en-US" sz="4000" b="1" i="1" u="none" strike="noStrike" kern="1200" cap="none" spc="0" normalizeH="0" baseline="0" noProof="1">
              <a:ln>
                <a:noFill/>
              </a:ln>
              <a:solidFill>
                <a:srgbClr val="800080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itchFamily="49" charset="-122"/>
              <a:cs typeface="+mn-cs"/>
            </a:endParaRPr>
          </a:p>
        </p:txBody>
      </p:sp>
      <p:sp>
        <p:nvSpPr>
          <p:cNvPr id="186375" name="Text Box 7"/>
          <p:cNvSpPr txBox="1"/>
          <p:nvPr/>
        </p:nvSpPr>
        <p:spPr>
          <a:xfrm>
            <a:off x="5276850" y="4508500"/>
            <a:ext cx="28956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（财）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7287" name="Text Box 7"/>
          <p:cNvSpPr txBox="1"/>
          <p:nvPr/>
        </p:nvSpPr>
        <p:spPr>
          <a:xfrm>
            <a:off x="1258888" y="6021388"/>
            <a:ext cx="2895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（双目失明 ）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/>
      <p:bldP spid="186372" grpId="0"/>
      <p:bldP spid="186375" grpId="0"/>
      <p:bldP spid="9728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68313" y="476250"/>
            <a:ext cx="8229600" cy="59055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4000" b="1" dirty="0"/>
              <a:t>王恭从会稽还，王大看之。见其坐六尺</a:t>
            </a:r>
            <a:r>
              <a:rPr lang="zh-CN" altLang="en-US" sz="4000" b="1" dirty="0">
                <a:solidFill>
                  <a:srgbClr val="FF0000"/>
                </a:solidFill>
              </a:rPr>
              <a:t>簟</a:t>
            </a:r>
            <a:r>
              <a:rPr lang="zh-CN" altLang="en-US" sz="4000" b="1" dirty="0"/>
              <a:t>，因语恭：“卿东来，故应有此物，可以一领及我?”恭无言。大去后，即举所坐者送之。既无余席，便坐</a:t>
            </a:r>
            <a:r>
              <a:rPr lang="zh-CN" altLang="en-US" sz="4000" b="1" dirty="0">
                <a:solidFill>
                  <a:srgbClr val="FF0000"/>
                </a:solidFill>
              </a:rPr>
              <a:t>荐</a:t>
            </a:r>
            <a:r>
              <a:rPr lang="zh-CN" altLang="en-US" sz="4000" b="1" dirty="0"/>
              <a:t>上。后大闻之，甚惊，曰：“吾本谓卿多，故求耳。”对曰：“</a:t>
            </a:r>
            <a:r>
              <a:rPr lang="zh-CN" altLang="en-US" sz="4000" b="1" u="sng" dirty="0"/>
              <a:t>丈人不悉恭，恭作人无</a:t>
            </a:r>
            <a:r>
              <a:rPr lang="zh-CN" altLang="en-US" sz="4000" b="1" u="sng" dirty="0">
                <a:solidFill>
                  <a:srgbClr val="0000CC"/>
                </a:solidFill>
              </a:rPr>
              <a:t>长物</a:t>
            </a:r>
            <a:r>
              <a:rPr lang="zh-CN" altLang="en-US" sz="4000" b="1" u="sng" dirty="0"/>
              <a:t>。</a:t>
            </a:r>
            <a:r>
              <a:rPr lang="zh-CN" altLang="en-US" sz="4000" b="1" dirty="0"/>
              <a:t>”</a:t>
            </a:r>
            <a:endParaRPr lang="zh-CN" altLang="en-US" sz="4000" b="1" dirty="0"/>
          </a:p>
          <a:p>
            <a:pPr eaLnBrk="1" hangingPunct="1"/>
            <a:r>
              <a:rPr lang="en-US" altLang="zh-CN" sz="4000" b="1" dirty="0"/>
              <a:t>                           ——</a:t>
            </a:r>
            <a:r>
              <a:rPr lang="zh-CN" altLang="en-US" sz="4000" b="1" dirty="0"/>
              <a:t>《世说新语》 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50825" y="333375"/>
            <a:ext cx="8564563" cy="582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方法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  <a:endParaRPr kumimoji="0" lang="zh-CN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）问题：请推断下列句子中加点词的词义。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① 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忠不必用兮，贤不必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以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② 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谷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则异室，死则同穴 。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③ 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简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能而任之，择善而从之。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④ 南取汉中，西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举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巴蜀。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⑤ 弃礼义，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捐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廉耻，非一朝一夕之故。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⑥ 辅周则国必强，辅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隙</a:t>
            </a:r>
            <a:r>
              <a:rPr kumimoji="0" lang="zh-CN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则国必弱。</a:t>
            </a:r>
            <a:endParaRPr kumimoji="0" lang="zh-CN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2073275" y="4437063"/>
            <a:ext cx="5451475" cy="2011362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r>
              <a:rPr lang="zh-CN" altLang="en-US" sz="4000" b="1" dirty="0"/>
              <a:t>民</a:t>
            </a:r>
            <a:r>
              <a:rPr lang="zh-CN" altLang="en-US" sz="4000" b="1" dirty="0">
                <a:solidFill>
                  <a:srgbClr val="CC0066"/>
                </a:solidFill>
              </a:rPr>
              <a:t>殷</a:t>
            </a:r>
            <a:r>
              <a:rPr lang="zh-CN" altLang="en-US" sz="4000" b="1" dirty="0"/>
              <a:t>国</a:t>
            </a:r>
            <a:r>
              <a:rPr lang="zh-CN" altLang="en-US" sz="4000" b="1" dirty="0">
                <a:solidFill>
                  <a:srgbClr val="CC0066"/>
                </a:solidFill>
              </a:rPr>
              <a:t>富</a:t>
            </a:r>
            <a:r>
              <a:rPr lang="zh-CN" altLang="en-US" sz="4000" b="1" dirty="0"/>
              <a:t>    </a:t>
            </a:r>
            <a:r>
              <a:rPr lang="zh-CN" altLang="en-US" sz="4000" b="1" dirty="0">
                <a:solidFill>
                  <a:srgbClr val="CC0066"/>
                </a:solidFill>
              </a:rPr>
              <a:t>文</a:t>
            </a:r>
            <a:r>
              <a:rPr lang="zh-CN" altLang="en-US" sz="4000" b="1" dirty="0"/>
              <a:t>过</a:t>
            </a:r>
            <a:r>
              <a:rPr lang="zh-CN" altLang="en-US" sz="4000" b="1" dirty="0">
                <a:solidFill>
                  <a:srgbClr val="CC0066"/>
                </a:solidFill>
              </a:rPr>
              <a:t>饰</a:t>
            </a:r>
            <a:r>
              <a:rPr lang="zh-CN" altLang="en-US" sz="4000" b="1" dirty="0"/>
              <a:t>非         </a:t>
            </a:r>
            <a:endParaRPr lang="zh-CN" altLang="en-US" sz="4000" b="1" dirty="0"/>
          </a:p>
          <a:p>
            <a:pPr eaLnBrk="1" hangingPunct="1">
              <a:buNone/>
            </a:pPr>
            <a:r>
              <a:rPr lang="zh-CN" altLang="en-US" sz="4000" b="1" dirty="0">
                <a:solidFill>
                  <a:srgbClr val="CC0066"/>
                </a:solidFill>
              </a:rPr>
              <a:t>党</a:t>
            </a:r>
            <a:r>
              <a:rPr lang="zh-CN" altLang="en-US" sz="4000" b="1" dirty="0"/>
              <a:t>同</a:t>
            </a:r>
            <a:r>
              <a:rPr lang="zh-CN" altLang="en-US" sz="4000" b="1" dirty="0">
                <a:solidFill>
                  <a:srgbClr val="CC0066"/>
                </a:solidFill>
              </a:rPr>
              <a:t>伐</a:t>
            </a:r>
            <a:r>
              <a:rPr lang="zh-CN" altLang="en-US" sz="4000" b="1" dirty="0"/>
              <a:t>异    </a:t>
            </a:r>
            <a:r>
              <a:rPr lang="zh-CN" altLang="en-US" sz="4000" b="1" dirty="0">
                <a:solidFill>
                  <a:srgbClr val="CC0066"/>
                </a:solidFill>
              </a:rPr>
              <a:t>夙</a:t>
            </a:r>
            <a:r>
              <a:rPr lang="zh-CN" altLang="en-US" sz="4000" b="1" dirty="0"/>
              <a:t>兴</a:t>
            </a:r>
            <a:r>
              <a:rPr lang="zh-CN" altLang="en-US" sz="4000" b="1" dirty="0">
                <a:solidFill>
                  <a:srgbClr val="CC0066"/>
                </a:solidFill>
              </a:rPr>
              <a:t>夜</a:t>
            </a:r>
            <a:r>
              <a:rPr lang="zh-CN" altLang="en-US" sz="4000" b="1" dirty="0"/>
              <a:t>寐</a:t>
            </a:r>
            <a:endParaRPr lang="zh-CN" altLang="en-US" sz="4000" b="1" dirty="0"/>
          </a:p>
          <a:p>
            <a:pPr eaLnBrk="1" hangingPunct="1">
              <a:buNone/>
            </a:pPr>
            <a:r>
              <a:rPr lang="zh-CN" altLang="en-US" sz="4000" b="1" dirty="0">
                <a:solidFill>
                  <a:srgbClr val="CC0066"/>
                </a:solidFill>
              </a:rPr>
              <a:t>溯洄</a:t>
            </a:r>
            <a:r>
              <a:rPr lang="zh-CN" altLang="en-US" sz="4000" b="1" dirty="0"/>
              <a:t>从之    欲</a:t>
            </a:r>
            <a:r>
              <a:rPr lang="zh-CN" altLang="en-US" sz="4000" b="1" dirty="0">
                <a:solidFill>
                  <a:srgbClr val="CC0066"/>
                </a:solidFill>
              </a:rPr>
              <a:t>盖</a:t>
            </a:r>
            <a:r>
              <a:rPr lang="zh-CN" altLang="en-US" sz="4000" b="1" dirty="0"/>
              <a:t>弥</a:t>
            </a:r>
            <a:r>
              <a:rPr lang="zh-CN" altLang="en-US" sz="4000" b="1" dirty="0">
                <a:solidFill>
                  <a:srgbClr val="CC0066"/>
                </a:solidFill>
              </a:rPr>
              <a:t>彰</a:t>
            </a:r>
            <a:endParaRPr lang="zh-CN" altLang="en-US" sz="4000" b="1" dirty="0">
              <a:solidFill>
                <a:srgbClr val="CC0066"/>
              </a:solidFill>
            </a:endParaRPr>
          </a:p>
          <a:p>
            <a:pPr eaLnBrk="1" hangingPunct="1">
              <a:buNone/>
            </a:pPr>
            <a:endParaRPr lang="zh-CN" altLang="en-US" sz="4000" dirty="0"/>
          </a:p>
        </p:txBody>
      </p:sp>
      <p:sp>
        <p:nvSpPr>
          <p:cNvPr id="4" name="文本框 3"/>
          <p:cNvSpPr txBox="1"/>
          <p:nvPr/>
        </p:nvSpPr>
        <p:spPr>
          <a:xfrm>
            <a:off x="549275" y="260350"/>
            <a:ext cx="8270875" cy="3992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</a:rPr>
              <a:t>方法二：结构观察法</a:t>
            </a:r>
            <a:endParaRPr lang="zh-CN" altLang="en-US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</a:rPr>
              <a:t>       根据整句中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对应词语</a:t>
            </a:r>
            <a:r>
              <a:rPr lang="zh-CN" altLang="en-US" b="1" dirty="0">
                <a:latin typeface="Arial" panose="020B0604020202020204" pitchFamily="34" charset="0"/>
              </a:rPr>
              <a:t>的意思推断词义</a:t>
            </a:r>
            <a:r>
              <a:rPr lang="en-US" altLang="zh-CN" b="1" dirty="0">
                <a:latin typeface="Arial" panose="020B0604020202020204" pitchFamily="34" charset="0"/>
              </a:rPr>
              <a:t>,</a:t>
            </a:r>
            <a:r>
              <a:rPr lang="zh-CN" altLang="en-US" b="1" dirty="0">
                <a:latin typeface="Arial" panose="020B0604020202020204" pitchFamily="34" charset="0"/>
              </a:rPr>
              <a:t>根据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相邻的字</a:t>
            </a:r>
            <a:r>
              <a:rPr lang="zh-CN" altLang="en-US" b="1" dirty="0">
                <a:latin typeface="Arial" panose="020B0604020202020204" pitchFamily="34" charset="0"/>
              </a:rPr>
              <a:t>来推断词义。</a:t>
            </a:r>
            <a:endParaRPr lang="zh-CN" altLang="en-US" b="1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</a:rPr>
              <a:t>       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文言文中排比句、对偶句、并列词句等对举的语言现象很多，在两两、三三的对举句中，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位置对称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的词语一般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词性相同、词义相近或相反相对。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22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4">
                                            <p:txEl>
                                              <p:charRg st="22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4">
                                            <p:txEl>
                                              <p:charRg st="22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35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4">
                                            <p:txEl>
                                              <p:charRg st="35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4">
                                            <p:txEl>
                                              <p:charRg st="35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4"/>
          <p:cNvSpPr txBox="1"/>
          <p:nvPr/>
        </p:nvSpPr>
        <p:spPr>
          <a:xfrm>
            <a:off x="323850" y="115888"/>
            <a:ext cx="8280400" cy="547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解释下列加点的词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忧劳可以兴国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u="sng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逸豫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可以亡身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急湍甚箭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猛浪若</a:t>
            </a:r>
            <a:r>
              <a:rPr lang="zh-CN" altLang="en-US" sz="2800" b="1" u="sng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奔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u="sng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诋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大酋当死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骂逆贼当死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一年所居成</a:t>
            </a:r>
            <a:r>
              <a:rPr lang="zh-CN" altLang="en-US" sz="2800" b="1" u="sng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两年所居成邑，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三年成都</a:t>
            </a:r>
            <a:r>
              <a:rPr lang="zh-CN" altLang="en-US" dirty="0">
                <a:latin typeface="Times New Roman" panose="02020603050405020304" pitchFamily="18" charset="0"/>
              </a:rPr>
              <a:t> 。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b="1" i="1" dirty="0">
                <a:latin typeface="Times New Roman" panose="02020603050405020304" pitchFamily="18" charset="0"/>
              </a:rPr>
              <a:t>一年</a:t>
            </a:r>
            <a:r>
              <a:rPr lang="zh-CN" altLang="en-US" b="1" dirty="0">
                <a:latin typeface="Times New Roman" panose="02020603050405020304" pitchFamily="18" charset="0"/>
              </a:rPr>
              <a:t>后成为村落，</a:t>
            </a:r>
            <a:r>
              <a:rPr lang="zh-CN" altLang="en-US" b="1" i="1" dirty="0">
                <a:latin typeface="Times New Roman" panose="02020603050405020304" pitchFamily="18" charset="0"/>
              </a:rPr>
              <a:t>二年</a:t>
            </a:r>
            <a:r>
              <a:rPr lang="zh-CN" altLang="en-US" b="1" dirty="0">
                <a:latin typeface="Times New Roman" panose="02020603050405020304" pitchFamily="18" charset="0"/>
              </a:rPr>
              <a:t>成为城邑，三年成为都市”。）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早夜以思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去其不如舜者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u="sng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就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其如舜者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endParaRPr lang="zh-CN" altLang="en-US" sz="2800" b="1" u="sng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7" name="Text Box 5"/>
          <p:cNvSpPr txBox="1"/>
          <p:nvPr/>
        </p:nvSpPr>
        <p:spPr>
          <a:xfrm>
            <a:off x="5651500" y="836613"/>
            <a:ext cx="16573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安逸享乐</a:t>
            </a:r>
            <a:endParaRPr lang="zh-CN" altLang="en-US" sz="2800" b="1" dirty="0">
              <a:solidFill>
                <a:srgbClr val="00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199" name="Text Box 7"/>
          <p:cNvSpPr txBox="1"/>
          <p:nvPr/>
        </p:nvSpPr>
        <p:spPr>
          <a:xfrm>
            <a:off x="5724525" y="1397000"/>
            <a:ext cx="16557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奔马</a:t>
            </a:r>
            <a:endParaRPr lang="zh-CN" altLang="en-US" sz="2800" b="1" dirty="0">
              <a:solidFill>
                <a:srgbClr val="00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201" name="Text Box 9"/>
          <p:cNvSpPr txBox="1"/>
          <p:nvPr/>
        </p:nvSpPr>
        <p:spPr>
          <a:xfrm>
            <a:off x="5724525" y="2060575"/>
            <a:ext cx="172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辱骂</a:t>
            </a:r>
            <a:endParaRPr lang="zh-CN" altLang="en-US" sz="2800" b="1" dirty="0">
              <a:solidFill>
                <a:srgbClr val="00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202" name="Text Box 10"/>
          <p:cNvSpPr txBox="1"/>
          <p:nvPr/>
        </p:nvSpPr>
        <p:spPr>
          <a:xfrm>
            <a:off x="5722938" y="3860800"/>
            <a:ext cx="15128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村落</a:t>
            </a:r>
            <a:endParaRPr lang="zh-CN" altLang="en-US" sz="2800" b="1" dirty="0">
              <a:solidFill>
                <a:srgbClr val="00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203" name="Text Box 11"/>
          <p:cNvSpPr txBox="1"/>
          <p:nvPr/>
        </p:nvSpPr>
        <p:spPr>
          <a:xfrm>
            <a:off x="6805613" y="4437063"/>
            <a:ext cx="20875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养成</a:t>
            </a:r>
            <a:r>
              <a:rPr lang="en-US" altLang="zh-CN" sz="2800" b="1" dirty="0">
                <a:solidFill>
                  <a:srgbClr val="00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b="1" dirty="0">
                <a:solidFill>
                  <a:srgbClr val="00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造成</a:t>
            </a:r>
            <a:endParaRPr lang="zh-CN" altLang="en-US" sz="2800" b="1" dirty="0">
              <a:solidFill>
                <a:srgbClr val="0033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197" grpId="0"/>
      <p:bldP spid="8199" grpId="0"/>
      <p:bldP spid="8201" grpId="0"/>
      <p:bldP spid="8202" grpId="0"/>
      <p:bldP spid="820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496888" y="520700"/>
            <a:ext cx="8386762" cy="561816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b="1" dirty="0">
                <a:ea typeface="楷体" panose="02010609060101010101" pitchFamily="49" charset="-122"/>
              </a:rPr>
              <a:t>人之才行，自昔罕全，苟有所长，必有所短。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</a:rPr>
              <a:t>若录长补短，则天下无不用之人；</a:t>
            </a:r>
            <a:r>
              <a:rPr lang="zh-CN" altLang="en-US" b="1" dirty="0">
                <a:solidFill>
                  <a:srgbClr val="0000FF"/>
                </a:solidFill>
                <a:ea typeface="楷体" panose="02010609060101010101" pitchFamily="49" charset="-122"/>
              </a:rPr>
              <a:t>责短舍长，则天下无不弃之士。</a:t>
            </a:r>
            <a:r>
              <a:rPr lang="zh-CN" altLang="en-US" b="1" dirty="0">
                <a:ea typeface="楷体" panose="02010609060101010101" pitchFamily="49" charset="-122"/>
              </a:rPr>
              <a:t>加以情有爱憎，趣有异同，假使圣如伊、周，贤如墨、杨，</a:t>
            </a:r>
            <a:r>
              <a:rPr lang="zh-CN" altLang="en-US" b="1" dirty="0">
                <a:solidFill>
                  <a:srgbClr val="0000FF"/>
                </a:solidFill>
                <a:ea typeface="楷体" panose="02010609060101010101" pitchFamily="49" charset="-122"/>
              </a:rPr>
              <a:t>求诸物议，孰免讥嫌？</a:t>
            </a:r>
            <a:r>
              <a:rPr lang="zh-CN" altLang="en-US" b="1" dirty="0">
                <a:ea typeface="楷体" panose="02010609060101010101" pitchFamily="49" charset="-122"/>
              </a:rPr>
              <a:t>昔子贡问于孔子曰：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b="1" dirty="0">
                <a:ea typeface="楷体" panose="02010609060101010101" pitchFamily="49" charset="-122"/>
              </a:rPr>
              <a:t>乡人皆好之，何如？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b="1" dirty="0">
                <a:ea typeface="楷体" panose="02010609060101010101" pitchFamily="49" charset="-122"/>
              </a:rPr>
              <a:t>子曰：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b="1" dirty="0">
                <a:ea typeface="楷体" panose="02010609060101010101" pitchFamily="49" charset="-122"/>
              </a:rPr>
              <a:t>未可也。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”“</a:t>
            </a:r>
            <a:r>
              <a:rPr lang="zh-CN" altLang="en-US" b="1" dirty="0">
                <a:ea typeface="楷体" panose="02010609060101010101" pitchFamily="49" charset="-122"/>
              </a:rPr>
              <a:t>乡人皆恶之，何如？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b="1" dirty="0">
                <a:ea typeface="楷体" panose="02010609060101010101" pitchFamily="49" charset="-122"/>
              </a:rPr>
              <a:t>子曰：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b="1" dirty="0">
                <a:ea typeface="楷体" panose="02010609060101010101" pitchFamily="49" charset="-122"/>
              </a:rPr>
              <a:t>未可也。不如乡人之善者好之，其不善者恶之。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b="1" dirty="0">
                <a:ea typeface="楷体" panose="02010609060101010101" pitchFamily="49" charset="-122"/>
              </a:rPr>
              <a:t>盖以君子小人意必相反，其在小人之恶君子亦如君子之恶小人。</a:t>
            </a:r>
            <a:r>
              <a:rPr lang="zh-CN" altLang="en-US" b="1" dirty="0">
                <a:solidFill>
                  <a:srgbClr val="0000FF"/>
                </a:solidFill>
                <a:ea typeface="楷体" panose="02010609060101010101" pitchFamily="49" charset="-122"/>
              </a:rPr>
              <a:t>将察其情，在审其听，</a:t>
            </a:r>
            <a:r>
              <a:rPr lang="zh-CN" altLang="en-US" b="1" dirty="0">
                <a:ea typeface="楷体" panose="02010609060101010101" pitchFamily="49" charset="-122"/>
              </a:rPr>
              <a:t>听君子则小人道废，听小人则君子道消。</a:t>
            </a:r>
            <a:endParaRPr lang="zh-CN" altLang="en-US" b="1" dirty="0"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404813"/>
            <a:ext cx="8307388" cy="6119812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①湖南之为邦，北枕大江，南</a:t>
            </a: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薄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五岭，西接黔蜀 </a:t>
            </a:r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②帝善其不</a:t>
            </a: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挠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，迁均司隶校尉。</a:t>
            </a:r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③若</a:t>
            </a: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贷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而不诛，则天下大义不明，大法不立矣</a:t>
            </a:r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④聊为君侯</a:t>
            </a: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纾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一时之难耳</a:t>
            </a:r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⑤使弈秋</a:t>
            </a: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诲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二人弈</a:t>
            </a:r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44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方法3：成语联想法</a:t>
            </a:r>
            <a:endParaRPr lang="zh-CN" altLang="en-US" sz="4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zh-CN" altLang="en-US" sz="4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3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charRg st="23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8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charRg st="38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charRg st="71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1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charRg st="81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339725" y="404813"/>
            <a:ext cx="8466138" cy="6442075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3300" b="1" dirty="0">
                <a:latin typeface="楷体" panose="02010609060101010101" pitchFamily="49" charset="-122"/>
                <a:ea typeface="楷体" panose="02010609060101010101" pitchFamily="49" charset="-122"/>
              </a:rPr>
              <a:t>邹与鲁拱（拱，争吵，冲突，交战。）。穆公问曰：“吾</a:t>
            </a:r>
            <a:r>
              <a:rPr lang="zh-CN" altLang="en-US" sz="3300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有司</a:t>
            </a:r>
            <a:r>
              <a:rPr lang="zh-CN" altLang="en-US" sz="3300" b="1" dirty="0">
                <a:latin typeface="楷体" panose="02010609060101010101" pitchFamily="49" charset="-122"/>
                <a:ea typeface="楷体" panose="02010609060101010101" pitchFamily="49" charset="-122"/>
              </a:rPr>
              <a:t>死者三十三人，而民莫之</a:t>
            </a:r>
            <a:r>
              <a:rPr lang="zh-CN" altLang="en-US" sz="3300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死</a:t>
            </a:r>
            <a:r>
              <a:rPr lang="zh-CN" altLang="en-US" sz="3300" b="1" dirty="0">
                <a:latin typeface="楷体" panose="02010609060101010101" pitchFamily="49" charset="-122"/>
                <a:ea typeface="楷体" panose="02010609060101010101" pitchFamily="49" charset="-122"/>
              </a:rPr>
              <a:t>也”。诛之，则不可胜诛；不诛，则</a:t>
            </a:r>
            <a:r>
              <a:rPr lang="zh-CN" altLang="en-US" sz="33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疾</a:t>
            </a:r>
            <a:r>
              <a:rPr lang="zh-CN" altLang="en-US" sz="3300" b="1" dirty="0">
                <a:latin typeface="楷体" panose="02010609060101010101" pitchFamily="49" charset="-122"/>
                <a:ea typeface="楷体" panose="02010609060101010101" pitchFamily="49" charset="-122"/>
              </a:rPr>
              <a:t>视其长上之死而不救．如之何则可也？” </a:t>
            </a:r>
            <a:endParaRPr lang="zh-CN" altLang="en-US" sz="33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3300" b="1" dirty="0">
                <a:latin typeface="楷体" panose="02010609060101010101" pitchFamily="49" charset="-122"/>
                <a:ea typeface="楷体" panose="02010609060101010101" pitchFamily="49" charset="-122"/>
              </a:rPr>
              <a:t>孟子对曰：“</a:t>
            </a:r>
            <a:r>
              <a:rPr lang="zh-CN" altLang="en-US" sz="3300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凶</a:t>
            </a:r>
            <a:r>
              <a:rPr lang="zh-CN" altLang="en-US" sz="3300" b="1" dirty="0">
                <a:latin typeface="楷体" panose="02010609060101010101" pitchFamily="49" charset="-122"/>
                <a:ea typeface="楷体" panose="02010609060101010101" pitchFamily="49" charset="-122"/>
              </a:rPr>
              <a:t>年饥岁，君之民老弱转乎沟壑，壮者散而</a:t>
            </a:r>
            <a:r>
              <a:rPr lang="zh-CN" altLang="en-US" sz="3300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之</a:t>
            </a:r>
            <a:r>
              <a:rPr lang="zh-CN" altLang="en-US" sz="3300" b="1" dirty="0">
                <a:latin typeface="楷体" panose="02010609060101010101" pitchFamily="49" charset="-122"/>
                <a:ea typeface="楷体" panose="02010609060101010101" pitchFamily="49" charset="-122"/>
              </a:rPr>
              <a:t>四方者，几千人矣；而君之仓廪实，府库充，有司莫以告，是上</a:t>
            </a:r>
            <a:r>
              <a:rPr lang="zh-CN" altLang="en-US" sz="3300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慢</a:t>
            </a:r>
            <a:r>
              <a:rPr lang="zh-CN" altLang="en-US" sz="3300" b="1" dirty="0">
                <a:latin typeface="楷体" panose="02010609060101010101" pitchFamily="49" charset="-122"/>
                <a:ea typeface="楷体" panose="02010609060101010101" pitchFamily="49" charset="-122"/>
              </a:rPr>
              <a:t>而残下也。曾子曰：‘戒之戒之！出乎尔者，反乎尔者也。’夫民今而后得反之也。君无</a:t>
            </a:r>
            <a:r>
              <a:rPr lang="zh-CN" altLang="en-US" sz="33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尤</a:t>
            </a:r>
            <a:r>
              <a:rPr lang="zh-CN" altLang="en-US" sz="3300" b="1" dirty="0">
                <a:latin typeface="楷体" panose="02010609060101010101" pitchFamily="49" charset="-122"/>
                <a:ea typeface="楷体" panose="02010609060101010101" pitchFamily="49" charset="-122"/>
              </a:rPr>
              <a:t>焉！君行仁政，斯民亲其上，死其长矣。” </a:t>
            </a:r>
            <a:endParaRPr lang="zh-CN" altLang="en-US" sz="33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>
          <a:xfrm>
            <a:off x="250825" y="565150"/>
            <a:ext cx="8042275" cy="5461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</a:rPr>
              <a:t>请将下面“将”按词性分类，并翻译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type="body" idx="4294967295"/>
          </p:nvPr>
        </p:nvSpPr>
        <p:spPr>
          <a:xfrm>
            <a:off x="250825" y="1377950"/>
            <a:ext cx="8640763" cy="47879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上（刘邦）尝从容与信言诸</a:t>
            </a: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3600" b="1" baseline="30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能不，各有差。上问曰：“如我，能</a:t>
            </a: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3600" b="1" baseline="30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几何？”信曰：“陛下不过能</a:t>
            </a: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3600" b="1" baseline="30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十万。”上曰：“于公何如？”曰：“如臣，多多而益善耳。”上笑曰：“多多益善，何为为我禽？”信曰：“陛下不能</a:t>
            </a: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3600" b="1" baseline="30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兵，而善</a:t>
            </a: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3600" b="1" baseline="30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3600" b="1" baseline="30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，此乃信之所以为陛下禽也。” </a:t>
            </a:r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</a:t>
            </a:r>
            <a:r>
              <a:rPr lang="en-US" altLang="zh-CN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——《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韩信将兵</a:t>
            </a:r>
            <a:r>
              <a:rPr lang="en-US" altLang="zh-CN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endParaRPr lang="en-US" altLang="zh-CN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484" name="文本框 10244"/>
          <p:cNvSpPr txBox="1"/>
          <p:nvPr/>
        </p:nvSpPr>
        <p:spPr>
          <a:xfrm>
            <a:off x="0" y="4800600"/>
            <a:ext cx="91440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4968875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4800" b="1" dirty="0">
                <a:solidFill>
                  <a:srgbClr val="0000CC"/>
                </a:solidFill>
              </a:rPr>
              <a:t>句子的结构</a:t>
            </a:r>
            <a:r>
              <a:rPr lang="zh-CN" altLang="en-US" sz="4800" b="1" dirty="0"/>
              <a:t>是基本固定的，组合是有规律的，词在句中所处的</a:t>
            </a:r>
            <a:r>
              <a:rPr lang="zh-CN" altLang="en-US" sz="4800" b="1" dirty="0">
                <a:solidFill>
                  <a:srgbClr val="0000CC"/>
                </a:solidFill>
              </a:rPr>
              <a:t>语法位置（成分）</a:t>
            </a:r>
            <a:r>
              <a:rPr lang="en-US" altLang="zh-CN" sz="4800" b="1" dirty="0"/>
              <a:t>为推断词义提供了依据。</a:t>
            </a:r>
            <a:endParaRPr lang="en-US" altLang="zh-CN" sz="4800" b="1" dirty="0"/>
          </a:p>
          <a:p>
            <a:pPr eaLnBrk="1" hangingPunct="1">
              <a:buNone/>
            </a:pPr>
            <a:endParaRPr lang="en-US" altLang="zh-CN" sz="4800" b="1" dirty="0"/>
          </a:p>
          <a:p>
            <a:pPr eaLnBrk="1" hangingPunct="1"/>
            <a:r>
              <a:rPr lang="zh-CN" altLang="zh-CN" sz="4800" b="1" dirty="0"/>
              <a:t>方法</a:t>
            </a:r>
            <a:r>
              <a:rPr lang="en-US" altLang="zh-CN" sz="4800" b="1" dirty="0"/>
              <a:t>4</a:t>
            </a:r>
            <a:r>
              <a:rPr lang="zh-CN" altLang="en-US" sz="4800" b="1" dirty="0"/>
              <a:t>：语法分析法</a:t>
            </a:r>
            <a:endParaRPr lang="zh-CN" altLang="en-US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4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4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Grp="1"/>
          </p:cNvSpPr>
          <p:nvPr>
            <p:ph type="body" idx="4294967295"/>
          </p:nvPr>
        </p:nvSpPr>
        <p:spPr>
          <a:xfrm>
            <a:off x="71438" y="476250"/>
            <a:ext cx="8964612" cy="60483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sz="3600" b="1" dirty="0"/>
              <a:t>1</a:t>
            </a:r>
            <a:r>
              <a:rPr lang="zh-CN" altLang="en-US" sz="3600" b="1" dirty="0"/>
              <a:t>、“白公奔山而缢，其徒</a:t>
            </a:r>
            <a:r>
              <a:rPr lang="zh-CN" altLang="en-US" sz="3600" b="1" dirty="0">
                <a:solidFill>
                  <a:srgbClr val="FF0000"/>
                </a:solidFill>
              </a:rPr>
              <a:t>微</a:t>
            </a:r>
            <a:r>
              <a:rPr lang="zh-CN" altLang="en-US" sz="3600" b="1" dirty="0"/>
              <a:t>之”</a:t>
            </a:r>
            <a:endParaRPr lang="en-US" altLang="zh-CN" sz="3600" b="1" dirty="0"/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zh-CN" altLang="en-US" sz="3600" b="1" dirty="0"/>
              <a:t>做</a:t>
            </a:r>
            <a:r>
              <a:rPr lang="zh-CN" altLang="en-US" sz="3600" b="1" u="sng" dirty="0">
                <a:solidFill>
                  <a:srgbClr val="FF0000"/>
                </a:solidFill>
              </a:rPr>
              <a:t>谓语</a:t>
            </a:r>
            <a:r>
              <a:rPr lang="zh-CN" altLang="en-US" sz="3600" b="1" dirty="0"/>
              <a:t>，而且带有宾语，释为“藏匿”。</a:t>
            </a:r>
            <a:endParaRPr lang="en-US" altLang="zh-CN" sz="1000" b="1" dirty="0"/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sz="3600" b="1" dirty="0"/>
              <a:t>2</a:t>
            </a:r>
            <a:r>
              <a:rPr lang="zh-CN" altLang="en-US" sz="3600" b="1" dirty="0"/>
              <a:t>、“</a:t>
            </a:r>
            <a:r>
              <a:rPr lang="zh-CN" altLang="en-US" sz="3600" b="1" dirty="0">
                <a:solidFill>
                  <a:srgbClr val="FF0000"/>
                </a:solidFill>
              </a:rPr>
              <a:t>微</a:t>
            </a:r>
            <a:r>
              <a:rPr lang="zh-CN" altLang="en-US" sz="3600" b="1" dirty="0"/>
              <a:t>行入古寺”</a:t>
            </a:r>
            <a:endParaRPr lang="en-US" altLang="zh-CN" sz="3600" b="1" dirty="0"/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zh-CN" altLang="en-US" sz="3600" b="1" dirty="0"/>
              <a:t>做</a:t>
            </a:r>
            <a:r>
              <a:rPr lang="zh-CN" altLang="en-US" sz="3600" b="1" u="sng" dirty="0">
                <a:solidFill>
                  <a:srgbClr val="FF0000"/>
                </a:solidFill>
              </a:rPr>
              <a:t>状语</a:t>
            </a:r>
            <a:r>
              <a:rPr lang="zh-CN" altLang="en-US" sz="3600" b="1" dirty="0"/>
              <a:t>，修饰“行”，释为“暗暗地，隐蔽地”。</a:t>
            </a:r>
            <a:endParaRPr lang="en-US" altLang="zh-CN" sz="1000" b="1" dirty="0"/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sz="3600" b="1" dirty="0"/>
              <a:t>3</a:t>
            </a:r>
            <a:r>
              <a:rPr lang="zh-CN" altLang="en-US" sz="3600" b="1" dirty="0"/>
              <a:t>、“</a:t>
            </a:r>
            <a:r>
              <a:rPr lang="zh-CN" altLang="en-US" sz="3600" b="1" dirty="0">
                <a:solidFill>
                  <a:srgbClr val="FF0000"/>
                </a:solidFill>
              </a:rPr>
              <a:t>微</a:t>
            </a:r>
            <a:r>
              <a:rPr lang="zh-CN" altLang="en-US" sz="3600" b="1" dirty="0"/>
              <a:t>风鼓浪”</a:t>
            </a:r>
            <a:endParaRPr lang="en-US" altLang="zh-CN" sz="3600" b="1" dirty="0"/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zh-CN" altLang="en-US" sz="3600" b="1" dirty="0"/>
              <a:t>做</a:t>
            </a:r>
            <a:r>
              <a:rPr lang="zh-CN" altLang="en-US" sz="3600" b="1" u="sng" dirty="0">
                <a:solidFill>
                  <a:srgbClr val="FF0000"/>
                </a:solidFill>
              </a:rPr>
              <a:t>定语</a:t>
            </a:r>
            <a:r>
              <a:rPr lang="zh-CN" altLang="en-US" sz="3600" b="1" dirty="0"/>
              <a:t>，限定“风”，释为“微小、微弱”。     </a:t>
            </a:r>
            <a:endParaRPr lang="zh-CN" alt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">
                                            <p:txEl>
                                              <p:charRg st="16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865">
                                            <p:txEl>
                                              <p:charRg st="16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">
                                            <p:txEl>
                                              <p:charRg st="45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865">
                                            <p:txEl>
                                              <p:charRg st="45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">
                                            <p:txEl>
                                              <p:charRg st="77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6865">
                                            <p:txEl>
                                              <p:charRg st="77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body" idx="4294967295"/>
          </p:nvPr>
        </p:nvSpPr>
        <p:spPr>
          <a:xfrm>
            <a:off x="468313" y="404813"/>
            <a:ext cx="8229600" cy="61198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25000"/>
              </a:lnSpc>
            </a:pPr>
            <a:r>
              <a:rPr lang="zh-CN" altLang="en-US" sz="3600" b="1" dirty="0"/>
              <a:t>“</a:t>
            </a:r>
            <a:r>
              <a:rPr lang="zh-CN" altLang="en-US" sz="3600" b="1" u="sng" dirty="0"/>
              <a:t>（优孟）多</a:t>
            </a:r>
            <a:r>
              <a:rPr lang="zh-CN" altLang="en-US" sz="3600" b="1" u="sng" dirty="0">
                <a:solidFill>
                  <a:srgbClr val="FF0000"/>
                </a:solidFill>
              </a:rPr>
              <a:t>辩</a:t>
            </a:r>
            <a:r>
              <a:rPr lang="zh-CN" altLang="en-US" sz="3600" b="1" u="sng" dirty="0"/>
              <a:t>，常以谈笑讽谏”</a:t>
            </a:r>
            <a:r>
              <a:rPr lang="zh-CN" altLang="en-US" sz="3600" b="1" dirty="0"/>
              <a:t>。</a:t>
            </a:r>
            <a:endParaRPr lang="en-US" altLang="zh-CN" sz="3600" b="1" dirty="0"/>
          </a:p>
          <a:p>
            <a:pPr eaLnBrk="1" hangingPunct="1">
              <a:lnSpc>
                <a:spcPct val="125000"/>
              </a:lnSpc>
            </a:pPr>
            <a:r>
              <a:rPr lang="zh-CN" altLang="en-US" sz="3600" b="1" dirty="0"/>
              <a:t>辩：一般意思解释为“辩驳”。此句中“辩”作“多”的宾语，显然只能翻译为名词“</a:t>
            </a:r>
            <a:r>
              <a:rPr lang="zh-CN" altLang="en-US" sz="3600" b="1" dirty="0">
                <a:solidFill>
                  <a:srgbClr val="FF0000"/>
                </a:solidFill>
              </a:rPr>
              <a:t>辩才</a:t>
            </a:r>
            <a:r>
              <a:rPr lang="zh-CN" altLang="en-US" sz="3600" b="1" dirty="0"/>
              <a:t>”。</a:t>
            </a:r>
            <a:endParaRPr lang="zh-CN" altLang="en-US" sz="3600" b="1" dirty="0"/>
          </a:p>
          <a:p>
            <a:pPr eaLnBrk="1" hangingPunct="1">
              <a:lnSpc>
                <a:spcPct val="125000"/>
              </a:lnSpc>
            </a:pPr>
            <a:endParaRPr lang="en-US" altLang="zh-CN" sz="1000" b="1" dirty="0"/>
          </a:p>
          <a:p>
            <a:pPr eaLnBrk="1" hangingPunct="1">
              <a:lnSpc>
                <a:spcPct val="125000"/>
              </a:lnSpc>
            </a:pPr>
            <a:r>
              <a:rPr lang="zh-CN" altLang="en-US" sz="3600" b="1" dirty="0"/>
              <a:t>“</a:t>
            </a:r>
            <a:r>
              <a:rPr lang="zh-CN" altLang="en-US" sz="3600" b="1" u="sng" dirty="0"/>
              <a:t>庭</a:t>
            </a:r>
            <a:r>
              <a:rPr lang="zh-CN" altLang="en-US" sz="3600" b="1" u="sng" dirty="0">
                <a:solidFill>
                  <a:srgbClr val="FF0000"/>
                </a:solidFill>
              </a:rPr>
              <a:t>除</a:t>
            </a:r>
            <a:r>
              <a:rPr lang="zh-CN" altLang="en-US" sz="3600" b="1" u="sng" dirty="0"/>
              <a:t>甚芜，堂屋甚残</a:t>
            </a:r>
            <a:r>
              <a:rPr lang="zh-CN" altLang="en-US" sz="3600" b="1" dirty="0"/>
              <a:t> ”。</a:t>
            </a:r>
            <a:endParaRPr lang="en-US" altLang="zh-CN" sz="3600" b="1" dirty="0"/>
          </a:p>
          <a:p>
            <a:pPr eaLnBrk="1" hangingPunct="1">
              <a:lnSpc>
                <a:spcPct val="125000"/>
              </a:lnSpc>
            </a:pPr>
            <a:r>
              <a:rPr lang="zh-CN" altLang="en-US" sz="3600" b="1" dirty="0"/>
              <a:t>句中“庭除”“堂屋”均作句子主语，是名词，“除”翻译为动词“废弃”显然不对，应译为“</a:t>
            </a:r>
            <a:r>
              <a:rPr lang="zh-CN" altLang="en-US" sz="3600" b="1" u="sng" dirty="0">
                <a:solidFill>
                  <a:srgbClr val="FF0000"/>
                </a:solidFill>
              </a:rPr>
              <a:t>台阶</a:t>
            </a:r>
            <a:r>
              <a:rPr lang="zh-CN" altLang="en-US" sz="3600" b="1" dirty="0"/>
              <a:t>”才讲得通。 </a:t>
            </a:r>
            <a:endParaRPr lang="zh-CN" altLang="en-US" sz="3600" b="1" dirty="0"/>
          </a:p>
          <a:p>
            <a:pPr eaLnBrk="1" hangingPunct="1">
              <a:lnSpc>
                <a:spcPct val="125000"/>
              </a:lnSpc>
            </a:pPr>
            <a:endParaRPr lang="zh-CN" altLang="en-US" sz="3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>
                                            <p:txEl>
                                              <p:charRg st="17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889">
                                            <p:txEl>
                                              <p:charRg st="17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>
                                            <p:txEl>
                                              <p:charRg st="75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889">
                                            <p:txEl>
                                              <p:charRg st="75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457200" y="836613"/>
            <a:ext cx="8229600" cy="5132387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3600" b="1" dirty="0"/>
              <a:t> </a:t>
            </a:r>
            <a:r>
              <a:rPr lang="zh-CN" altLang="en-US" sz="3600" b="1" dirty="0"/>
              <a:t>御孙曰：“俭，德之共也；侈，恶之大也。共，同也，言有德者皆由俭来也。夫俭则寡欲，君子寡欲则</a:t>
            </a:r>
            <a:r>
              <a:rPr lang="zh-CN" altLang="en-US" sz="3600" b="1" dirty="0">
                <a:solidFill>
                  <a:srgbClr val="0000CC"/>
                </a:solidFill>
              </a:rPr>
              <a:t>不役于物</a:t>
            </a:r>
            <a:r>
              <a:rPr lang="zh-CN" altLang="en-US" sz="3600" b="1" dirty="0"/>
              <a:t>，可以直道而行；小人寡欲则能</a:t>
            </a:r>
            <a:r>
              <a:rPr lang="zh-CN" altLang="en-US" sz="3600" b="1" dirty="0">
                <a:solidFill>
                  <a:srgbClr val="0000CC"/>
                </a:solidFill>
              </a:rPr>
              <a:t>谨身节用</a:t>
            </a:r>
            <a:r>
              <a:rPr lang="zh-CN" altLang="en-US" sz="3600" b="1" dirty="0"/>
              <a:t>，远罪丰家。故曰‘俭，德之共也。’侈则多欲，君子多欲则贪慕富贵，枉道</a:t>
            </a:r>
            <a:r>
              <a:rPr lang="zh-CN" altLang="en-US" sz="3600" b="1" dirty="0">
                <a:solidFill>
                  <a:srgbClr val="FF0000"/>
                </a:solidFill>
              </a:rPr>
              <a:t>速</a:t>
            </a:r>
            <a:r>
              <a:rPr lang="zh-CN" altLang="en-US" sz="3600" b="1" dirty="0"/>
              <a:t>祸；小人多欲则</a:t>
            </a:r>
            <a:r>
              <a:rPr lang="zh-CN" altLang="en-US" sz="3600" b="1" dirty="0">
                <a:solidFill>
                  <a:srgbClr val="0000CC"/>
                </a:solidFill>
              </a:rPr>
              <a:t>多求妄用</a:t>
            </a:r>
            <a:r>
              <a:rPr lang="zh-CN" altLang="en-US" sz="3600" b="1" dirty="0"/>
              <a:t>，败家丧身。是以居官必</a:t>
            </a:r>
            <a:r>
              <a:rPr lang="zh-CN" altLang="en-US" sz="3600" b="1" dirty="0">
                <a:solidFill>
                  <a:srgbClr val="FF0000"/>
                </a:solidFill>
              </a:rPr>
              <a:t>贿</a:t>
            </a:r>
            <a:r>
              <a:rPr lang="zh-CN" altLang="en-US" sz="3600" b="1" dirty="0"/>
              <a:t>，居乡必盗，故曰：‘侈，恶之大也’。”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内容占位符 2"/>
          <p:cNvSpPr>
            <a:spLocks noGrp="1" noChangeArrowheads="1"/>
          </p:cNvSpPr>
          <p:nvPr>
            <p:ph idx="1"/>
          </p:nvPr>
        </p:nvSpPr>
        <p:spPr bwMode="auto">
          <a:xfrm>
            <a:off x="395288" y="333375"/>
            <a:ext cx="8308975" cy="5761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方法</a:t>
            </a: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：课文迁移法</a:t>
            </a:r>
            <a:endParaRPr kumimoji="0" lang="en-US" altLang="zh-CN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①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乃杜绝交游，馈遗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秋毫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无所受</a:t>
            </a:r>
            <a:r>
              <a:rPr kumimoji="0" lang="zh-CN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en-US" altLang="zh-CN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②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范仲淹二岁而孤，母贫无依，再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适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长山朱氏，既长，知其世家，感泣辞</a:t>
            </a:r>
            <a:r>
              <a:rPr kumimoji="0" lang="zh-CN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母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en-US" altLang="zh-CN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③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勿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已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。如是，又何以行之</a:t>
            </a:r>
            <a:r>
              <a:rPr kumimoji="0" lang="zh-CN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en-US" altLang="zh-CN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④ 不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事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文墨久矣（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16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年江苏高考</a:t>
            </a:r>
            <a:r>
              <a:rPr kumimoji="0" lang="zh-CN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0" lang="en-US" altLang="zh-CN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⑤ 而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揆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之于法，既有所不合（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16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常州模拟）</a:t>
            </a:r>
            <a:endParaRPr kumimoji="0" lang="zh-CN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内容占位符 2"/>
          <p:cNvSpPr>
            <a:spLocks noGrp="1"/>
          </p:cNvSpPr>
          <p:nvPr>
            <p:ph idx="1"/>
          </p:nvPr>
        </p:nvSpPr>
        <p:spPr>
          <a:xfrm>
            <a:off x="417513" y="836613"/>
            <a:ext cx="8308975" cy="5761037"/>
          </a:xfrm>
          <a:noFill/>
          <a:ln>
            <a:noFill/>
          </a:ln>
        </p:spPr>
        <p:txBody>
          <a:bodyPr/>
          <a:p>
            <a:pPr marL="0" indent="0" eaLnBrk="1" hangingPunct="1">
              <a:buNone/>
            </a:pPr>
            <a:r>
              <a:rPr lang="zh-CN" altLang="en-US" sz="3400" b="1" dirty="0">
                <a:ea typeface="楷体" panose="02010609060101010101" pitchFamily="49" charset="-122"/>
              </a:rPr>
              <a:t>        </a:t>
            </a:r>
            <a:r>
              <a:rPr lang="zh-CN" altLang="en-US" sz="3600" b="1" dirty="0">
                <a:ea typeface="楷体" panose="02010609060101010101" pitchFamily="49" charset="-122"/>
              </a:rPr>
              <a:t>蒋氏，姑苏巨家也。有子</a:t>
            </a:r>
            <a:r>
              <a:rPr lang="zh-CN" altLang="en-US" sz="3600" b="1" dirty="0">
                <a:solidFill>
                  <a:srgbClr val="0000CC"/>
                </a:solidFill>
                <a:ea typeface="楷体" panose="02010609060101010101" pitchFamily="49" charset="-122"/>
              </a:rPr>
              <a:t>甫</a:t>
            </a:r>
            <a:r>
              <a:rPr lang="zh-CN" altLang="en-US" sz="3600" b="1" dirty="0">
                <a:ea typeface="楷体" panose="02010609060101010101" pitchFamily="49" charset="-122"/>
              </a:rPr>
              <a:t>八龄，欲为求师，慕郑明德先生，</a:t>
            </a:r>
            <a:r>
              <a:rPr lang="zh-CN" altLang="en-US" sz="3600" b="1" dirty="0">
                <a:solidFill>
                  <a:srgbClr val="FF0000"/>
                </a:solidFill>
                <a:ea typeface="楷体" panose="02010609060101010101" pitchFamily="49" charset="-122"/>
              </a:rPr>
              <a:t>具</a:t>
            </a:r>
            <a:r>
              <a:rPr lang="zh-CN" altLang="en-US" sz="3600" b="1" dirty="0">
                <a:ea typeface="楷体" panose="02010609060101010101" pitchFamily="49" charset="-122"/>
              </a:rPr>
              <a:t>礼</a:t>
            </a:r>
            <a:r>
              <a:rPr lang="zh-CN" altLang="en-US" sz="3600" b="1" dirty="0">
                <a:solidFill>
                  <a:srgbClr val="FF0000"/>
                </a:solidFill>
                <a:ea typeface="楷体" panose="02010609060101010101" pitchFamily="49" charset="-122"/>
              </a:rPr>
              <a:t>延</a:t>
            </a:r>
            <a:r>
              <a:rPr lang="zh-CN" altLang="en-US" sz="3600" b="1" dirty="0">
                <a:ea typeface="楷体" panose="02010609060101010101" pitchFamily="49" charset="-122"/>
              </a:rPr>
              <a:t>之。先生不屑往。蒋亦</a:t>
            </a:r>
            <a:r>
              <a:rPr lang="zh-CN" altLang="en-US" sz="3600" b="1" dirty="0">
                <a:solidFill>
                  <a:srgbClr val="0000CC"/>
                </a:solidFill>
                <a:ea typeface="楷体" panose="02010609060101010101" pitchFamily="49" charset="-122"/>
              </a:rPr>
              <a:t>跌宕</a:t>
            </a:r>
            <a:r>
              <a:rPr lang="zh-CN" altLang="en-US" sz="3600" b="1" dirty="0">
                <a:ea typeface="楷体" panose="02010609060101010101" pitchFamily="49" charset="-122"/>
              </a:rPr>
              <a:t>者，遂厚延铁崖杨先生，具道郑不就之意。时先生居吴淞，放情山水，日携宾客妓女，以文酒为乐，谓蒋曰：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3600" b="1" dirty="0">
                <a:ea typeface="楷体" panose="02010609060101010101" pitchFamily="49" charset="-122"/>
              </a:rPr>
              <a:t>能从三事则可，币不足计也。一无拘日课，二资行乐费，三须</a:t>
            </a:r>
            <a:r>
              <a:rPr lang="zh-CN" altLang="en-US" sz="3600" b="1" dirty="0">
                <a:solidFill>
                  <a:schemeClr val="accent2"/>
                </a:solidFill>
                <a:ea typeface="楷体" panose="02010609060101010101" pitchFamily="49" charset="-122"/>
              </a:rPr>
              <a:t>卜</a:t>
            </a:r>
            <a:r>
              <a:rPr lang="zh-CN" altLang="en-US" sz="3600" b="1" dirty="0">
                <a:ea typeface="楷体" panose="02010609060101010101" pitchFamily="49" charset="-122"/>
              </a:rPr>
              <a:t>别墅以贮家人。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3600" b="1" dirty="0">
                <a:ea typeface="楷体" panose="02010609060101010101" pitchFamily="49" charset="-122"/>
              </a:rPr>
              <a:t>蒋欣然从之。铁崖竟留三年，后其子亦有名于时。</a:t>
            </a:r>
            <a:endParaRPr lang="zh-CN" altLang="en-US" sz="3600" b="1" dirty="0"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charRg st="0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7">
                                            <p:txEl>
                                              <p:charRg st="0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7">
                                            <p:txEl>
                                              <p:charRg st="0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/>
          <p:nvPr/>
        </p:nvSpPr>
        <p:spPr>
          <a:xfrm>
            <a:off x="1619250" y="44450"/>
            <a:ext cx="5832475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/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文言实词推断</a:t>
            </a:r>
            <a:endParaRPr lang="zh-CN" altLang="en-US" sz="40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8675" name="Rectangle 3"/>
          <p:cNvSpPr/>
          <p:nvPr/>
        </p:nvSpPr>
        <p:spPr>
          <a:xfrm>
            <a:off x="-36512" y="1187450"/>
            <a:ext cx="9144000" cy="52514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积累是“王道”，语境是“依据”，方法是“参考”。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en-US" altLang="zh-CN" sz="1200" b="1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一、字形推断法</a:t>
            </a:r>
            <a:b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二、结构推断法 </a:t>
            </a:r>
            <a:b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三、成语推断法</a:t>
            </a:r>
            <a:b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四、语法推断法</a:t>
            </a:r>
            <a:b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五、课文推断法</a:t>
            </a:r>
            <a:endParaRPr lang="zh-CN" altLang="en-US" b="1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867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idx="1"/>
          </p:nvPr>
        </p:nvSpPr>
        <p:spPr>
          <a:xfrm>
            <a:off x="0" y="188913"/>
            <a:ext cx="9144000" cy="4525962"/>
          </a:xfrm>
          <a:noFill/>
          <a:ln>
            <a:noFill/>
          </a:ln>
        </p:spPr>
        <p:txBody>
          <a:bodyPr/>
          <a:p>
            <a:pPr algn="ctr" eaLnBrk="1" hangingPunct="1">
              <a:lnSpc>
                <a:spcPct val="125000"/>
              </a:lnSpc>
              <a:buNone/>
            </a:pP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争 雁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None/>
            </a:pPr>
            <a:r>
              <a:rPr lang="zh-CN" altLang="en-US" sz="2800" b="1" dirty="0"/>
              <a:t>               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昔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1</a:t>
            </a:r>
            <a:r>
              <a:rPr lang="zh-CN" altLang="en-US" sz="3600" b="1" dirty="0">
                <a:ea typeface="楷体_GB2312" pitchFamily="49" charset="-122"/>
              </a:rPr>
              <a:t>）人有睹雁翔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者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2</a:t>
            </a:r>
            <a:r>
              <a:rPr lang="zh-CN" altLang="en-US" sz="3600" b="1" dirty="0">
                <a:ea typeface="楷体_GB2312" pitchFamily="49" charset="-122"/>
              </a:rPr>
              <a:t>），将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援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3</a:t>
            </a:r>
            <a:r>
              <a:rPr lang="zh-CN" altLang="en-US" sz="3600" b="1" dirty="0">
                <a:ea typeface="楷体_GB2312" pitchFamily="49" charset="-122"/>
              </a:rPr>
              <a:t>）弓射之，曰：“获则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烹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4</a:t>
            </a:r>
            <a:r>
              <a:rPr lang="zh-CN" altLang="en-US" sz="3600" b="1" dirty="0">
                <a:ea typeface="楷体_GB2312" pitchFamily="49" charset="-122"/>
              </a:rPr>
              <a:t>）。”其弟争曰：“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舒雁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5</a:t>
            </a:r>
            <a:r>
              <a:rPr lang="zh-CN" altLang="en-US" sz="3600" b="1" dirty="0">
                <a:ea typeface="楷体_GB2312" pitchFamily="49" charset="-122"/>
              </a:rPr>
              <a:t>）烹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宜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6</a:t>
            </a:r>
            <a:r>
              <a:rPr lang="zh-CN" altLang="en-US" sz="3600" b="1" dirty="0">
                <a:ea typeface="楷体_GB2312" pitchFamily="49" charset="-122"/>
              </a:rPr>
              <a:t>），翔雁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燔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7</a:t>
            </a:r>
            <a:r>
              <a:rPr lang="zh-CN" altLang="en-US" sz="3600" b="1" dirty="0">
                <a:ea typeface="楷体_GB2312" pitchFamily="49" charset="-122"/>
              </a:rPr>
              <a:t>）宜。”竞斗而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讼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8</a:t>
            </a:r>
            <a:r>
              <a:rPr lang="zh-CN" altLang="en-US" sz="3600" b="1" dirty="0">
                <a:ea typeface="楷体_GB2312" pitchFamily="49" charset="-122"/>
              </a:rPr>
              <a:t>）于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社伯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9</a:t>
            </a:r>
            <a:r>
              <a:rPr lang="zh-CN" altLang="en-US" sz="3600" b="1" dirty="0">
                <a:ea typeface="楷体_GB2312" pitchFamily="49" charset="-122"/>
              </a:rPr>
              <a:t>）。社伯请剖雁，烹燔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半焉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10</a:t>
            </a:r>
            <a:r>
              <a:rPr lang="zh-CN" altLang="en-US" sz="3600" b="1" dirty="0">
                <a:ea typeface="楷体_GB2312" pitchFamily="49" charset="-122"/>
              </a:rPr>
              <a:t>）。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已而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11</a:t>
            </a:r>
            <a:r>
              <a:rPr lang="zh-CN" altLang="en-US" sz="3600" b="1" dirty="0">
                <a:ea typeface="楷体_GB2312" pitchFamily="49" charset="-122"/>
              </a:rPr>
              <a:t>）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索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12</a:t>
            </a:r>
            <a:r>
              <a:rPr lang="zh-CN" altLang="en-US" sz="3600" b="1" dirty="0">
                <a:ea typeface="楷体_GB2312" pitchFamily="49" charset="-122"/>
              </a:rPr>
              <a:t>）雁，则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凌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13</a:t>
            </a:r>
            <a:r>
              <a:rPr lang="zh-CN" altLang="en-US" sz="3600" b="1" dirty="0">
                <a:ea typeface="楷体_GB2312" pitchFamily="49" charset="-122"/>
              </a:rPr>
              <a:t>）空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远</a:t>
            </a:r>
            <a:r>
              <a:rPr lang="zh-CN" altLang="en-US" sz="3600" b="1" dirty="0">
                <a:ea typeface="楷体_GB2312" pitchFamily="49" charset="-122"/>
              </a:rPr>
              <a:t>（</a:t>
            </a:r>
            <a:r>
              <a:rPr lang="en-US" altLang="zh-CN" sz="3600" b="1" dirty="0">
                <a:ea typeface="楷体_GB2312" pitchFamily="49" charset="-122"/>
              </a:rPr>
              <a:t>14</a:t>
            </a:r>
            <a:r>
              <a:rPr lang="zh-CN" altLang="en-US" sz="3600" b="1" dirty="0">
                <a:ea typeface="楷体_GB2312" pitchFamily="49" charset="-122"/>
              </a:rPr>
              <a:t>）矣。                         </a:t>
            </a:r>
            <a:endParaRPr lang="zh-CN" altLang="en-US" sz="3600" b="1" dirty="0"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  <a:buNone/>
            </a:pPr>
            <a:r>
              <a:rPr lang="zh-CN" altLang="en-US" sz="3600" b="1" dirty="0">
                <a:ea typeface="楷体_GB2312" pitchFamily="49" charset="-122"/>
              </a:rPr>
              <a:t>                            </a:t>
            </a:r>
            <a:r>
              <a:rPr lang="zh-CN" altLang="en-US" sz="3600" b="1" dirty="0">
                <a:ea typeface="楷体" panose="02010609060101010101" pitchFamily="49" charset="-122"/>
              </a:rPr>
              <a:t>（选自</a:t>
            </a:r>
            <a:r>
              <a:rPr lang="en-US" altLang="zh-CN" sz="3600" b="1" dirty="0">
                <a:ea typeface="楷体" panose="02010609060101010101" pitchFamily="49" charset="-122"/>
              </a:rPr>
              <a:t>《</a:t>
            </a:r>
            <a:r>
              <a:rPr lang="zh-CN" altLang="en-US" sz="3600" b="1" dirty="0">
                <a:ea typeface="楷体" panose="02010609060101010101" pitchFamily="49" charset="-122"/>
              </a:rPr>
              <a:t>应谐录</a:t>
            </a:r>
            <a:r>
              <a:rPr lang="en-US" altLang="zh-CN" sz="3600" b="1" dirty="0">
                <a:ea typeface="楷体" panose="02010609060101010101" pitchFamily="49" charset="-122"/>
              </a:rPr>
              <a:t>》</a:t>
            </a:r>
            <a:r>
              <a:rPr lang="zh-CN" altLang="en-US" sz="3600" b="1" dirty="0">
                <a:ea typeface="楷体" panose="02010609060101010101" pitchFamily="49" charset="-122"/>
              </a:rPr>
              <a:t>）</a:t>
            </a:r>
            <a:br>
              <a:rPr lang="zh-CN" altLang="en-US" b="1" dirty="0">
                <a:ea typeface="楷体" panose="02010609060101010101" pitchFamily="49" charset="-122"/>
              </a:rPr>
            </a:br>
            <a:endParaRPr lang="zh-CN" altLang="en-US" b="1" dirty="0"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/>
          </p:cNvSpPr>
          <p:nvPr>
            <p:ph idx="1"/>
          </p:nvPr>
        </p:nvSpPr>
        <p:spPr>
          <a:xfrm>
            <a:off x="0" y="0"/>
            <a:ext cx="8820150" cy="7085013"/>
          </a:xfrm>
          <a:noFill/>
          <a:ln>
            <a:noFill/>
          </a:ln>
        </p:spPr>
        <p:txBody>
          <a:bodyPr/>
          <a:p>
            <a:pPr algn="ctr"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争  雁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90000"/>
              </a:lnSpc>
              <a:buNone/>
            </a:pPr>
            <a:endParaRPr lang="en-US" altLang="zh-CN" sz="1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      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昔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1</a:t>
            </a:r>
            <a:r>
              <a:rPr lang="zh-CN" altLang="en-US" b="1" dirty="0">
                <a:ea typeface="楷体_GB2312" pitchFamily="49" charset="-122"/>
              </a:rPr>
              <a:t>）人有睹雁翔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者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2</a:t>
            </a:r>
            <a:r>
              <a:rPr lang="zh-CN" altLang="en-US" b="1" dirty="0">
                <a:ea typeface="楷体_GB2312" pitchFamily="49" charset="-122"/>
              </a:rPr>
              <a:t>），将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援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3</a:t>
            </a:r>
            <a:r>
              <a:rPr lang="zh-CN" altLang="en-US" b="1" dirty="0">
                <a:ea typeface="楷体_GB2312" pitchFamily="49" charset="-122"/>
              </a:rPr>
              <a:t>）弓射之，曰：“获则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烹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4</a:t>
            </a:r>
            <a:r>
              <a:rPr lang="zh-CN" altLang="en-US" b="1" dirty="0">
                <a:ea typeface="楷体_GB2312" pitchFamily="49" charset="-122"/>
              </a:rPr>
              <a:t>）。其弟争曰：“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舒雁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5</a:t>
            </a:r>
            <a:r>
              <a:rPr lang="zh-CN" altLang="en-US" b="1" dirty="0">
                <a:ea typeface="楷体_GB2312" pitchFamily="49" charset="-122"/>
              </a:rPr>
              <a:t>）烹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宜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6</a:t>
            </a:r>
            <a:r>
              <a:rPr lang="zh-CN" altLang="en-US" b="1" dirty="0">
                <a:ea typeface="楷体_GB2312" pitchFamily="49" charset="-122"/>
              </a:rPr>
              <a:t>），翔雁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燔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7</a:t>
            </a:r>
            <a:r>
              <a:rPr lang="zh-CN" altLang="en-US" b="1" dirty="0">
                <a:ea typeface="楷体_GB2312" pitchFamily="49" charset="-122"/>
              </a:rPr>
              <a:t>）宜。”竞斗而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讼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8</a:t>
            </a:r>
            <a:r>
              <a:rPr lang="zh-CN" altLang="en-US" b="1" dirty="0">
                <a:ea typeface="楷体_GB2312" pitchFamily="49" charset="-122"/>
              </a:rPr>
              <a:t>）于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社伯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9</a:t>
            </a:r>
            <a:r>
              <a:rPr lang="zh-CN" altLang="en-US" b="1" dirty="0">
                <a:ea typeface="楷体_GB2312" pitchFamily="49" charset="-122"/>
              </a:rPr>
              <a:t>）。社伯请剖雁，烹燔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半焉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10</a:t>
            </a:r>
            <a:r>
              <a:rPr lang="zh-CN" altLang="en-US" b="1" dirty="0">
                <a:ea typeface="楷体_GB2312" pitchFamily="49" charset="-122"/>
              </a:rPr>
              <a:t>）。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已而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11</a:t>
            </a:r>
            <a:r>
              <a:rPr lang="zh-CN" altLang="en-US" b="1" dirty="0">
                <a:ea typeface="楷体_GB2312" pitchFamily="49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索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12</a:t>
            </a:r>
            <a:r>
              <a:rPr lang="zh-CN" altLang="en-US" b="1" dirty="0">
                <a:ea typeface="楷体_GB2312" pitchFamily="49" charset="-122"/>
              </a:rPr>
              <a:t>）雁，则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凌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13</a:t>
            </a:r>
            <a:r>
              <a:rPr lang="zh-CN" altLang="en-US" b="1" dirty="0">
                <a:ea typeface="楷体_GB2312" pitchFamily="49" charset="-122"/>
              </a:rPr>
              <a:t>）空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远</a:t>
            </a: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14</a:t>
            </a:r>
            <a:r>
              <a:rPr lang="zh-CN" altLang="en-US" b="1" dirty="0">
                <a:ea typeface="楷体_GB2312" pitchFamily="49" charset="-122"/>
              </a:rPr>
              <a:t>）矣。            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（选自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应谐录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br>
              <a:rPr lang="zh-CN" altLang="en-US" sz="2800" b="1" dirty="0">
                <a:ea typeface="楷体_GB2312" pitchFamily="49" charset="-122"/>
              </a:rPr>
            </a:br>
            <a:endParaRPr lang="zh-CN" altLang="en-US" sz="2800" b="1" dirty="0"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ea typeface="楷体_GB2312" pitchFamily="49" charset="-122"/>
              </a:rPr>
              <a:t>      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解释：（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）昔：从前。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）者：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·····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的人。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）援：引，拿。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）烹：煮。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5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）舒雁：栖息的雁。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6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）宜：适合。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7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）燔：烤。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8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）讼：争辩是非曲直。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9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 社伯：相当于现在的村长。社，古代地区单位之一，二十五家为社。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10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）半焉：各一半。焉，句末语气助词。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11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）已而：不一会。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12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）索：寻找。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13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 凌：飞高。 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14</a:t>
            </a:r>
            <a:r>
              <a:rPr lang="zh-CN" altLang="en-US" sz="2400" b="1" dirty="0">
                <a:solidFill>
                  <a:srgbClr val="000066"/>
                </a:solidFill>
              </a:rPr>
              <a:t>）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远：飞远，形容词活用为动词。 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charRg st="156" end="3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97282">
                                            <p:txEl>
                                              <p:charRg st="156" end="3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idx="1"/>
          </p:nvPr>
        </p:nvSpPr>
        <p:spPr>
          <a:xfrm>
            <a:off x="0" y="0"/>
            <a:ext cx="8893175" cy="6858000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br>
              <a:rPr lang="zh-CN" altLang="en-US" sz="2000" dirty="0"/>
            </a:br>
            <a:r>
              <a:rPr lang="zh-CN" altLang="en-US" sz="2000" dirty="0"/>
              <a:t>  </a:t>
            </a:r>
            <a:endParaRPr lang="zh-CN" altLang="en-US" sz="2000" dirty="0"/>
          </a:p>
          <a:p>
            <a:pPr eaLnBrk="1" hangingPunct="1">
              <a:lnSpc>
                <a:spcPct val="125000"/>
              </a:lnSpc>
            </a:pPr>
            <a:r>
              <a:rPr lang="zh-CN" altLang="en-US" sz="2800" b="1" dirty="0"/>
              <a:t>        </a:t>
            </a:r>
            <a:r>
              <a:rPr lang="zh-CN" altLang="en-US" b="1" dirty="0"/>
              <a:t>从前有个看见雁在空中飞翔的人，准备拿弓射下它，说道：“捉到雁就把它煮了吃。”他的弟弟争着说：“栖息的雁煮了吃比较适合，飞翔的雁烤了吃比较适合。”兄弟俩为是煮了吃好还是烤了吃好而争个不停，最后一直争到了社伯那里。社伯请他们把雁剖开来，一半用来煮，一半用来烤。等到他们争论结束去寻找雁，而那雁却早</a:t>
            </a:r>
            <a:r>
              <a:rPr lang="zh-CN" altLang="en-US" sz="3600" b="1" dirty="0"/>
              <a:t>已经飞高飞远了</a:t>
            </a:r>
            <a:r>
              <a:rPr lang="zh-CN" altLang="en-US" sz="2400" dirty="0"/>
              <a:t>。</a:t>
            </a:r>
            <a:br>
              <a:rPr lang="zh-CN" altLang="en-US" sz="2400" dirty="0"/>
            </a:br>
            <a:r>
              <a:rPr lang="zh-CN" altLang="en-US" sz="2000" dirty="0"/>
              <a:t> </a:t>
            </a:r>
            <a:endParaRPr lang="zh-CN" altLang="en-US" sz="20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3926</Words>
  <Application>WPS 演示</Application>
  <PresentationFormat>全屏显示(4:3)</PresentationFormat>
  <Paragraphs>212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宋体</vt:lpstr>
      <vt:lpstr>Wingdings</vt:lpstr>
      <vt:lpstr>Times New Roman</vt:lpstr>
      <vt:lpstr>Calibri</vt:lpstr>
      <vt:lpstr>楷体</vt:lpstr>
      <vt:lpstr>黑体</vt:lpstr>
      <vt:lpstr>隶书</vt:lpstr>
      <vt:lpstr>微软雅黑</vt:lpstr>
      <vt:lpstr>楷体_GB2312</vt:lpstr>
      <vt:lpstr>新宋体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legend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地震科普知识</dc:title>
  <dc:creator>wf</dc:creator>
  <cp:lastModifiedBy>Administrator</cp:lastModifiedBy>
  <cp:revision>536</cp:revision>
  <dcterms:created xsi:type="dcterms:W3CDTF">2004-05-14T02:36:29Z</dcterms:created>
  <dcterms:modified xsi:type="dcterms:W3CDTF">2020-08-03T05:42:33Z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2052-11.1.0.9828</vt:lpwstr>
  </property>
</Properties>
</file>