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7" r:id="rId3"/>
    <p:sldId id="262" r:id="rId4"/>
    <p:sldId id="261" r:id="rId5"/>
    <p:sldId id="301" r:id="rId6"/>
    <p:sldId id="260" r:id="rId7"/>
    <p:sldId id="303" r:id="rId8"/>
    <p:sldId id="304" r:id="rId9"/>
    <p:sldId id="305" r:id="rId10"/>
    <p:sldId id="309" r:id="rId11"/>
    <p:sldId id="310" r:id="rId12"/>
    <p:sldId id="311" r:id="rId13"/>
    <p:sldId id="307" r:id="rId14"/>
    <p:sldId id="308" r:id="rId15"/>
    <p:sldId id="320" r:id="rId16"/>
    <p:sldId id="256" r:id="rId17"/>
    <p:sldId id="315" r:id="rId18"/>
    <p:sldId id="317" r:id="rId19"/>
    <p:sldId id="319" r:id="rId20"/>
    <p:sldId id="318" r:id="rId21"/>
    <p:sldId id="263" r:id="rId22"/>
    <p:sldId id="321" r:id="rId23"/>
    <p:sldId id="354" r:id="rId24"/>
    <p:sldId id="340" r:id="rId25"/>
    <p:sldId id="341" r:id="rId26"/>
    <p:sldId id="343" r:id="rId27"/>
    <p:sldId id="355" r:id="rId28"/>
    <p:sldId id="356" r:id="rId29"/>
    <p:sldId id="324" r:id="rId30"/>
    <p:sldId id="346" r:id="rId31"/>
    <p:sldId id="347" r:id="rId32"/>
    <p:sldId id="348" r:id="rId33"/>
    <p:sldId id="349" r:id="rId34"/>
    <p:sldId id="350" r:id="rId35"/>
    <p:sldId id="352" r:id="rId36"/>
    <p:sldId id="353" r:id="rId37"/>
    <p:sldId id="329" r:id="rId38"/>
    <p:sldId id="327" r:id="rId39"/>
    <p:sldId id="381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E0E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23"/>
    <p:restoredTop sz="94660"/>
  </p:normalViewPr>
  <p:slideViewPr>
    <p:cSldViewPr showGuides="1">
      <p:cViewPr varScale="1">
        <p:scale>
          <a:sx n="109" d="100"/>
          <a:sy n="109" d="100"/>
        </p:scale>
        <p:origin x="164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&#20848;&#20141;&#38598;&#24207;%20&#38886;&#20255;%208&#29677;/&#20848;&#20141;&#38598;&#24207;%20&#38886;&#20255;%208&#29677;.pp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14.jpe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&#20848;&#20141;&#38598;&#24207;%20&#38886;&#20255;%208&#29677;/&#20848;&#20141;&#38598;&#24207;%20&#38886;&#20255;%208&#29677;.ppt" TargetMode="Externa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&#20848;&#20141;&#38598;&#24207;%20&#38886;&#20255;%208&#29677;/&#20848;&#20141;&#38598;&#24207;%20&#38886;&#20255;%208&#29677;.ppt" TargetMode="Externa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&#20848;&#20141;&#38598;&#24207;%20&#38886;&#20255;%208&#29677;.ppt" TargetMode="Externa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lanting"/>
          <p:cNvPicPr/>
          <p:nvPr/>
        </p:nvPicPr>
        <p:blipFill>
          <a:blip r:embed="rId2"/>
          <a:stretch>
            <a:fillRect/>
          </a:stretch>
        </p:blipFill>
        <p:spPr>
          <a:xfrm>
            <a:off x="2411413" y="0"/>
            <a:ext cx="6400800" cy="5713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Text Box 7">
            <a:hlinkClick r:id="rId3" action="ppaction://hlinkpres?slideindex=1&amp;slidetitle="/>
          </p:cNvPr>
          <p:cNvSpPr txBox="1"/>
          <p:nvPr/>
        </p:nvSpPr>
        <p:spPr>
          <a:xfrm>
            <a:off x="457200" y="609600"/>
            <a:ext cx="1281113" cy="2057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7200" b="1" dirty="0">
                <a:latin typeface="Arial" panose="020B0604020202020204" pitchFamily="34" charset="0"/>
                <a:ea typeface="楷体_GB2312" pitchFamily="49" charset="-122"/>
              </a:rPr>
              <a:t>兰亭</a:t>
            </a:r>
          </a:p>
        </p:txBody>
      </p:sp>
      <p:sp>
        <p:nvSpPr>
          <p:cNvPr id="3076" name="Text Box 8"/>
          <p:cNvSpPr txBox="1"/>
          <p:nvPr/>
        </p:nvSpPr>
        <p:spPr>
          <a:xfrm>
            <a:off x="457200" y="2590800"/>
            <a:ext cx="1281113" cy="10668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7200" b="1" dirty="0">
                <a:latin typeface="Arial" panose="020B0604020202020204" pitchFamily="34" charset="0"/>
                <a:ea typeface="楷体_GB2312" pitchFamily="49" charset="-122"/>
              </a:rPr>
              <a:t>集</a:t>
            </a:r>
          </a:p>
        </p:txBody>
      </p:sp>
      <p:sp>
        <p:nvSpPr>
          <p:cNvPr id="3077" name="Text Box 9"/>
          <p:cNvSpPr txBox="1"/>
          <p:nvPr/>
        </p:nvSpPr>
        <p:spPr>
          <a:xfrm>
            <a:off x="457200" y="3733800"/>
            <a:ext cx="1281113" cy="10668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7200" b="1" dirty="0">
                <a:latin typeface="Arial" panose="020B0604020202020204" pitchFamily="34" charset="0"/>
                <a:ea typeface="楷体_GB2312" pitchFamily="49" charset="-122"/>
              </a:rPr>
              <a:t>序</a:t>
            </a:r>
          </a:p>
        </p:txBody>
      </p:sp>
      <p:sp>
        <p:nvSpPr>
          <p:cNvPr id="3078" name="Text Box 10"/>
          <p:cNvSpPr txBox="1"/>
          <p:nvPr/>
        </p:nvSpPr>
        <p:spPr>
          <a:xfrm>
            <a:off x="1447800" y="4724400"/>
            <a:ext cx="915988" cy="21336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800" dirty="0">
                <a:latin typeface="Arial" panose="020B0604020202020204" pitchFamily="34" charset="0"/>
                <a:ea typeface="楷体_GB2312" pitchFamily="49" charset="-122"/>
              </a:rPr>
              <a:t>王羲之</a:t>
            </a:r>
          </a:p>
        </p:txBody>
      </p:sp>
    </p:spTree>
  </p:cSld>
  <p:clrMapOvr>
    <a:masterClrMapping/>
  </p:clrMapOvr>
  <p:transition advTm="1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057400"/>
            <a:ext cx="5562600" cy="3581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3" name="Picture 3" descr="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1905000"/>
            <a:ext cx="5029200" cy="3733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4" name="Picture 4" descr="lt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0" y="838200"/>
            <a:ext cx="4648200" cy="541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1" name="Text Box 5"/>
          <p:cNvSpPr txBox="1"/>
          <p:nvPr/>
        </p:nvSpPr>
        <p:spPr>
          <a:xfrm>
            <a:off x="533400" y="533400"/>
            <a:ext cx="1022350" cy="2105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6600" dirty="0">
                <a:latin typeface="Tahoma" panose="020B0604030504040204" pitchFamily="34" charset="0"/>
                <a:ea typeface="华文行楷" pitchFamily="2" charset="-122"/>
              </a:rPr>
              <a:t>兰</a:t>
            </a:r>
          </a:p>
          <a:p>
            <a:pPr algn="ctr"/>
            <a:r>
              <a:rPr lang="zh-CN" altLang="en-US" sz="6600" dirty="0">
                <a:latin typeface="Tahoma" panose="020B0604030504040204" pitchFamily="34" charset="0"/>
                <a:ea typeface="华文行楷" pitchFamily="2" charset="-122"/>
              </a:rPr>
              <a:t>亭</a:t>
            </a:r>
          </a:p>
        </p:txBody>
      </p:sp>
      <p:pic>
        <p:nvPicPr>
          <p:cNvPr id="10246" name="Picture 6" descr="鹅池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800" y="2133600"/>
            <a:ext cx="5181600" cy="3200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7" name="Picture 7" descr="shao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800" y="1600200"/>
            <a:ext cx="4572000" cy="3648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8" name="Picture 8" descr="shao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8400" y="1706563"/>
            <a:ext cx="4953000" cy="39322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9" name="Picture 9" descr="l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1981200"/>
            <a:ext cx="5257800" cy="3835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50" name="Picture 10" descr="image/img173489_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8400" y="381000"/>
            <a:ext cx="4114800" cy="5562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51" name="Picture 11" descr="image/img173489_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1143000"/>
            <a:ext cx="3200400" cy="42402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53" name="Picture 13" descr="image/img173489_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14600" y="1600200"/>
            <a:ext cx="4419600" cy="381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9" name="Text Box 15"/>
          <p:cNvSpPr txBox="1"/>
          <p:nvPr/>
        </p:nvSpPr>
        <p:spPr>
          <a:xfrm>
            <a:off x="212725" y="2703513"/>
            <a:ext cx="1997075" cy="3743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</a:rPr>
              <a:t>兰亭位于浙江省绍兴市西南十四公里处的兰渚山下，相传春秋时越王勾践曾在此植兰，汉时设驿亭，故名兰亭。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8" descr="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381000" y="0"/>
            <a:ext cx="7924800" cy="1143000"/>
          </a:xfrm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sz="4000" dirty="0">
                <a:solidFill>
                  <a:srgbClr val="0000FF"/>
                </a:solidFill>
                <a:ea typeface="隶书" pitchFamily="49" charset="-122"/>
              </a:rPr>
              <a:t>     </a:t>
            </a:r>
            <a:r>
              <a:rPr lang="zh-CN" altLang="en-US" sz="4000" dirty="0">
                <a:solidFill>
                  <a:srgbClr val="0000FF"/>
                </a:solidFill>
                <a:ea typeface="隶书" pitchFamily="49" charset="-122"/>
              </a:rPr>
              <a:t>关于</a:t>
            </a:r>
            <a:r>
              <a:rPr lang="en-US" altLang="zh-CN" sz="4000" dirty="0">
                <a:solidFill>
                  <a:srgbClr val="0000FF"/>
                </a:solidFill>
                <a:ea typeface="隶书" pitchFamily="49" charset="-122"/>
              </a:rPr>
              <a:t>《</a:t>
            </a:r>
            <a:r>
              <a:rPr lang="zh-CN" altLang="en-US" sz="4000" dirty="0">
                <a:solidFill>
                  <a:srgbClr val="0000FF"/>
                </a:solidFill>
                <a:ea typeface="隶书" pitchFamily="49" charset="-122"/>
              </a:rPr>
              <a:t>兰亭集序</a:t>
            </a:r>
            <a:r>
              <a:rPr lang="en-US" altLang="zh-CN" sz="4000" dirty="0">
                <a:solidFill>
                  <a:srgbClr val="0000FF"/>
                </a:solidFill>
                <a:ea typeface="隶书" pitchFamily="49" charset="-122"/>
              </a:rPr>
              <a:t>》</a:t>
            </a:r>
            <a:endParaRPr lang="en-US" altLang="zh-CN" dirty="0"/>
          </a:p>
        </p:txBody>
      </p:sp>
      <p:graphicFrame>
        <p:nvGraphicFramePr>
          <p:cNvPr id="1026" name="Object 3"/>
          <p:cNvGraphicFramePr>
            <a:graphicFrameLocks noGrp="1"/>
          </p:cNvGraphicFramePr>
          <p:nvPr>
            <p:ph sz="half" idx="1"/>
          </p:nvPr>
        </p:nvGraphicFramePr>
        <p:xfrm flipH="1">
          <a:off x="681038" y="5702300"/>
          <a:ext cx="79375" cy="8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r:id="rId5" imgW="2065020" imgH="2241550" progId="Imaging.Document">
                  <p:embed/>
                </p:oleObj>
              </mc:Choice>
              <mc:Fallback>
                <p:oleObj r:id="rId5" imgW="2065020" imgH="2241550" progId="Imaging.Document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 flipH="1">
                        <a:off x="681038" y="5702300"/>
                        <a:ext cx="79375" cy="889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Rectangle 4"/>
          <p:cNvSpPr>
            <a:spLocks noGrp="1"/>
          </p:cNvSpPr>
          <p:nvPr>
            <p:ph type="body" sz="half" idx="2"/>
          </p:nvPr>
        </p:nvSpPr>
        <p:spPr>
          <a:xfrm>
            <a:off x="1600200" y="990600"/>
            <a:ext cx="7543800" cy="3352800"/>
          </a:xfrm>
          <a:ln/>
        </p:spPr>
        <p:txBody>
          <a:bodyPr vert="horz" wrap="square" lIns="91440" tIns="45720" rIns="91440" bIns="45720" anchor="t"/>
          <a:lstStyle/>
          <a:p>
            <a:pPr eaLnBrk="1" hangingPunct="1">
              <a:buClrTx/>
              <a:buSzTx/>
              <a:buFontTx/>
            </a:pPr>
            <a:r>
              <a:rPr lang="en-US" altLang="zh-CN" sz="2400" dirty="0"/>
              <a:t>       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晋穆帝永和九年（公元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353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年）农历三月初三日，这天天朗气清，惠风和畅。王羲之与谢安、孙绰、许询及王羲之子侄献之、凝之、涣之、元之等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41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位文人墨客在兰亭修禊雅集。王羲之、孙绰等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26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人当场赋诗，共得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37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篇。王羲之将这些诗句汇集起来，编辑成一本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《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兰亭集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》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，并为此集作了一篇序，共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324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字。</a:t>
            </a:r>
          </a:p>
          <a:p>
            <a:pPr eaLnBrk="1" hangingPunct="1">
              <a:buClrTx/>
              <a:buSzTx/>
              <a:buFontTx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    王羲之为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《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兰亭集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》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写的序文，原来无题目，今题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《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兰亭集序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》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是后人所加。</a:t>
            </a:r>
          </a:p>
        </p:txBody>
      </p:sp>
      <p:sp>
        <p:nvSpPr>
          <p:cNvPr id="1030" name="Text Box 9"/>
          <p:cNvSpPr txBox="1"/>
          <p:nvPr/>
        </p:nvSpPr>
        <p:spPr>
          <a:xfrm>
            <a:off x="1905000" y="4648200"/>
            <a:ext cx="69850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兰亭诗的内容，或抒写山水游赏之乐，或由山水抒发玄理。写游赏的乐趣，包括山水之美、酒友之乐、诗赋之雅，中心内容是在美好的自然与人文环境中得到审美愉悦。</a:t>
            </a:r>
          </a:p>
        </p:txBody>
      </p:sp>
      <p:pic>
        <p:nvPicPr>
          <p:cNvPr id="1031" name="Picture 10" descr="W020060721614190093841"/>
          <p:cNvPicPr>
            <a:picLocks noChangeAspect="1"/>
          </p:cNvPicPr>
          <p:nvPr/>
        </p:nvPicPr>
        <p:blipFill>
          <a:blip r:embed="rId7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1974850" cy="2133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20" grpId="0" build="p" advAuto="100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5" descr="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3" name="Picture 2" descr="W020060721614190093841"/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08800" y="4221163"/>
            <a:ext cx="2235200" cy="2636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Text Box 3"/>
          <p:cNvSpPr txBox="1"/>
          <p:nvPr/>
        </p:nvSpPr>
        <p:spPr>
          <a:xfrm>
            <a:off x="0" y="0"/>
            <a:ext cx="9144000" cy="692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王羲之：</a:t>
            </a:r>
            <a:r>
              <a:rPr lang="zh-CN" altLang="en-US" sz="2800" b="1" dirty="0"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虽无丝与竹，玄泉有清声。虽无啸与歌，咏言有馀馨。</a:t>
            </a:r>
            <a:r>
              <a:rPr lang="zh-CN" altLang="en-US" sz="2800" b="1" dirty="0">
                <a:latin typeface="Arial" panose="020B0604020202020204" pitchFamily="34" charset="0"/>
                <a:ea typeface="楷体_GB2312" pitchFamily="49" charset="-122"/>
              </a:rPr>
              <a:t>”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孙统：</a:t>
            </a:r>
            <a:r>
              <a:rPr lang="zh-CN" altLang="en-US" sz="2800" b="1" dirty="0"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时禽吟长涧，万籁吹连峰。</a:t>
            </a:r>
            <a:r>
              <a:rPr lang="zh-CN" altLang="en-US" sz="2800" b="1" dirty="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进而写在山水陶冶中忘记忧愁。</a:t>
            </a: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王玄之：</a:t>
            </a:r>
            <a:r>
              <a:rPr lang="zh-CN" altLang="en-US" sz="2800" b="1" dirty="0"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松竹挺岩崖，幽涧激清流。萧散肆情志，酣畅豁滞忧。</a:t>
            </a:r>
            <a:r>
              <a:rPr lang="zh-CN" altLang="en-US" sz="2800" b="1" dirty="0">
                <a:latin typeface="Arial" panose="020B0604020202020204" pitchFamily="34" charset="0"/>
                <a:ea typeface="楷体_GB2312" pitchFamily="49" charset="-122"/>
              </a:rPr>
              <a:t>”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王徵之：</a:t>
            </a:r>
            <a:r>
              <a:rPr lang="zh-CN" altLang="en-US" sz="2800" b="1" dirty="0"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散怀山水，萧然忘羁。</a:t>
            </a:r>
            <a:r>
              <a:rPr lang="zh-CN" altLang="en-US" sz="2800" b="1" dirty="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在山水游览中体认玄理的作品，</a:t>
            </a: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王羲之：</a:t>
            </a:r>
            <a:r>
              <a:rPr lang="zh-CN" altLang="en-US" sz="2800" b="1" dirty="0"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仰视碧天际，俯瞰绿水滨。寂阒无涯观，寓目理自陈。</a:t>
            </a:r>
            <a:r>
              <a:rPr lang="zh-CN" altLang="en-US" sz="2800" b="1" dirty="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从山水中感悟到大自然生生不息的力量。</a:t>
            </a: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谢安：</a:t>
            </a:r>
            <a:r>
              <a:rPr lang="zh-CN" altLang="en-US" sz="2800" b="1" dirty="0"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万殊混一理，安复觉彭殇。</a:t>
            </a:r>
            <a:r>
              <a:rPr lang="zh-CN" altLang="en-US" sz="2800" b="1" dirty="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则是表现万物浑一，莫辨彭殇的思考。</a:t>
            </a:r>
          </a:p>
          <a:p>
            <a:pPr>
              <a:spcBef>
                <a:spcPct val="50000"/>
              </a:spcBef>
            </a:pP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 descr="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1" name="WordArt 2"/>
          <p:cNvSpPr>
            <a:spLocks noTextEdit="1"/>
          </p:cNvSpPr>
          <p:nvPr/>
        </p:nvSpPr>
        <p:spPr>
          <a:xfrm>
            <a:off x="971550" y="476250"/>
            <a:ext cx="51816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92500" lnSpcReduction="20000"/>
          </a:bodyPr>
          <a:lstStyle/>
          <a:p>
            <a:pPr algn="ctr"/>
            <a:r>
              <a:rPr lang="zh-CN" altLang="en-US" sz="3600">
                <a:ln w="127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gradFill rotWithShape="1">
                  <a:gsLst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  <a:tileRect/>
                </a:gradFill>
                <a:effectLst>
                  <a:outerShdw dist="35921" dir="2699999" sy="50000" kx="2115830" algn="bl" rotWithShape="0">
                    <a:srgbClr val="C0C0C0"/>
                  </a:outerShdw>
                </a:effectLst>
                <a:latin typeface="华文行楷" charset="0"/>
                <a:ea typeface="华文行楷" charset="0"/>
              </a:rPr>
              <a:t>有关“序跋”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755650" y="1700213"/>
            <a:ext cx="7488238" cy="44831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kumimoji="1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“</a:t>
            </a:r>
            <a:r>
              <a:rPr kumimoji="1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序言”简称“序”，也叫前言，属实用文体，同“跋”是一类。列于卷首叫序，附于卷末叫“跋”。</a:t>
            </a:r>
            <a:r>
              <a:rPr kumimoji="1" lang="zh-CN" altLang="en-US" sz="3200" b="1" i="0" u="sng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其作用在于推荐介绍某人著作或某一材料，说明写作过程、写作目的、主要内容或说明一些同书本有关的事情，帮助读者更好地去阅读或理解。</a:t>
            </a:r>
            <a:r>
              <a:rPr kumimoji="1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序言，有自己作的，叫“自序”；也有请他人写的，叫“他序”，他序除了介绍著作外，往往还有一些评价的内容。   </a:t>
            </a:r>
          </a:p>
        </p:txBody>
      </p:sp>
    </p:spTree>
  </p:cSld>
  <p:clrMapOvr>
    <a:masterClrMapping/>
  </p:clrMapOvr>
  <p:transition>
    <p:check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2"/>
          <p:cNvPicPr>
            <a:picLocks noChangeAspect="1"/>
          </p:cNvPicPr>
          <p:nvPr/>
        </p:nvPicPr>
        <p:blipFill>
          <a:blip r:embed="rId2">
            <a:clrChange>
              <a:clrFrom>
                <a:srgbClr val="EEFDF6"/>
              </a:clrFrom>
              <a:clrTo>
                <a:srgbClr val="EEFD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9144000" cy="6237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5" name="WordArt 3"/>
          <p:cNvSpPr>
            <a:spLocks noTextEdit="1"/>
          </p:cNvSpPr>
          <p:nvPr/>
        </p:nvSpPr>
        <p:spPr>
          <a:xfrm>
            <a:off x="6300788" y="5876925"/>
            <a:ext cx="21590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 spc="720">
                <a:ln w="9525" cap="flat" cmpd="sng">
                  <a:solidFill>
                    <a:srgbClr val="FF9900"/>
                  </a:solidFill>
                  <a:prstDash val="solid"/>
                  <a:headEnd type="none" w="med" len="med"/>
                  <a:tailEnd type="none" w="med" len="med"/>
                </a:ln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作者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/>
          <p:nvPr/>
        </p:nvSpPr>
        <p:spPr>
          <a:xfrm>
            <a:off x="4068763" y="606425"/>
            <a:ext cx="4679950" cy="447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32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王羲之</a:t>
            </a:r>
            <a:r>
              <a:rPr lang="zh-CN" altLang="en-US" sz="3200" b="1" dirty="0">
                <a:latin typeface="宋体" panose="02010600030101010101" pitchFamily="2" charset="-122"/>
              </a:rPr>
              <a:t>（</a:t>
            </a:r>
            <a:r>
              <a:rPr lang="en-US" altLang="zh-CN" sz="3200" b="1" dirty="0">
                <a:latin typeface="宋体" panose="02010600030101010101" pitchFamily="2" charset="-122"/>
              </a:rPr>
              <a:t>321</a:t>
            </a:r>
            <a:r>
              <a:rPr lang="zh-CN" altLang="en-US" sz="3200" b="1" dirty="0">
                <a:latin typeface="宋体" panose="02010600030101010101" pitchFamily="2" charset="-122"/>
              </a:rPr>
              <a:t>～</a:t>
            </a:r>
            <a:r>
              <a:rPr lang="en-US" altLang="zh-CN" sz="3200" b="1" dirty="0">
                <a:latin typeface="宋体" panose="02010600030101010101" pitchFamily="2" charset="-122"/>
              </a:rPr>
              <a:t>379</a:t>
            </a:r>
            <a:r>
              <a:rPr lang="zh-CN" altLang="en-US" sz="3200" b="1" dirty="0">
                <a:latin typeface="宋体" panose="02010600030101010101" pitchFamily="2" charset="-122"/>
              </a:rPr>
              <a:t>），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东晋书法家。原籍琅琊人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山东临沂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，世居会稽山阴（浙江绍兴）。王羲之出身于两晋名门望族，祖父王正为尚书郎，父亲王旷为淮南太守，伯父王导是东晋丞相，另一伯父王敦是东晋</a:t>
            </a:r>
          </a:p>
        </p:txBody>
      </p:sp>
      <p:pic>
        <p:nvPicPr>
          <p:cNvPr id="9219" name="Picture 3" descr="75440301210902720-fm"/>
          <p:cNvPicPr>
            <a:picLocks noChangeAspect="1"/>
          </p:cNvPicPr>
          <p:nvPr/>
        </p:nvPicPr>
        <p:blipFill>
          <a:blip r:embed="rId2"/>
          <a:srcRect t="4324"/>
          <a:stretch>
            <a:fillRect/>
          </a:stretch>
        </p:blipFill>
        <p:spPr>
          <a:xfrm>
            <a:off x="396875" y="404813"/>
            <a:ext cx="3527425" cy="467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0" name="Text Box 4"/>
          <p:cNvSpPr txBox="1"/>
          <p:nvPr/>
        </p:nvSpPr>
        <p:spPr>
          <a:xfrm>
            <a:off x="395288" y="5013325"/>
            <a:ext cx="8388350" cy="1554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军事统帅。朝廷召王羲之为侍中、吏部尚书，辞不就。后任右军将军、会稽内史等职，世称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王右军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/>
          <p:nvPr/>
        </p:nvSpPr>
        <p:spPr>
          <a:xfrm>
            <a:off x="684213" y="1166813"/>
            <a:ext cx="5327650" cy="3990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32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王羲之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早年从卫夫人学书法，后博采众长，草书师法张芝，正书得力于钟繇。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兼撮众法，备成一家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，达到了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贵越群品，古今莫二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的高度。王羲之的行、草最能体现雄逸流动的艺术美。后世誉之为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书圣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pic>
        <p:nvPicPr>
          <p:cNvPr id="10243" name="Picture 3" descr="78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CF1"/>
              </a:clrFrom>
              <a:clrTo>
                <a:srgbClr val="FFFCF1">
                  <a:alpha val="0"/>
                </a:srgbClr>
              </a:clrTo>
            </a:clrChange>
          </a:blip>
          <a:srcRect l="26534" t="20039"/>
          <a:stretch>
            <a:fillRect/>
          </a:stretch>
        </p:blipFill>
        <p:spPr>
          <a:xfrm>
            <a:off x="5724525" y="1557338"/>
            <a:ext cx="3419475" cy="53006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lt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87450" y="26988"/>
            <a:ext cx="338455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7" name="Picture 3" descr="lta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71"/>
          <a:stretch>
            <a:fillRect/>
          </a:stretch>
        </p:blipFill>
        <p:spPr>
          <a:xfrm>
            <a:off x="4211638" y="-26987"/>
            <a:ext cx="3814762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t4"/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1550" y="0"/>
            <a:ext cx="3960813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1" name="Picture 3" descr="lt3"/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53000" y="0"/>
            <a:ext cx="3579813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lt6"/>
          <p:cNvPicPr>
            <a:picLocks noGrp="1" noChangeAspect="1"/>
          </p:cNvPicPr>
          <p:nvPr>
            <p:ph type="title"/>
          </p:nvPr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827088" y="0"/>
            <a:ext cx="3960812" cy="6858000"/>
          </a:xfrm>
          <a:ln/>
        </p:spPr>
      </p:pic>
      <p:pic>
        <p:nvPicPr>
          <p:cNvPr id="13315" name="Picture 3" descr="lt5"/>
          <p:cNvPicPr>
            <a:picLocks noGrp="1" noChangeAspect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4724400" y="0"/>
            <a:ext cx="3592513" cy="6858000"/>
          </a:xfrm>
          <a:ln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pic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639" t="10396" r="39406" b="3506"/>
          <a:stretch>
            <a:fillRect/>
          </a:stretch>
        </p:blipFill>
        <p:spPr>
          <a:xfrm>
            <a:off x="0" y="836613"/>
            <a:ext cx="3495675" cy="60213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9" name="Text Box 3"/>
          <p:cNvSpPr txBox="1"/>
          <p:nvPr/>
        </p:nvSpPr>
        <p:spPr>
          <a:xfrm>
            <a:off x="3635375" y="476250"/>
            <a:ext cx="5400675" cy="5940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魏晋人每于三月初三，到水边洗濯祈福，被称为禊事。东晋永和九年三月的这一天，王羲之和当时名士谢安、孙绰等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42 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人来到这里修禊，举行了一次别开生面的诗会。一群文人雅士，置身于崇山峻岭、茂林修竹之中，列坐在曲水两侧，将酒觞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杯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置于清流之上，任其飘流，停在谁的面前，谁就即兴赋诗，否则罚酒三觥 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ltjixu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40200" y="1052513"/>
            <a:ext cx="5003800" cy="5832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3" name="Text Box 3"/>
          <p:cNvSpPr txBox="1"/>
          <p:nvPr/>
        </p:nvSpPr>
        <p:spPr>
          <a:xfrm>
            <a:off x="1042988" y="836613"/>
            <a:ext cx="4968875" cy="3990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王羲之将这些诗汇集起来，编成集子，并借酒兴写了一篇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320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余字的序文。王羲之的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《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兰亭集序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》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可谓魏晋文学的尾声，全篇流连山水，探问生命，在中国文学史上享有崇高的声誉。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/>
          <p:nvPr/>
        </p:nvSpPr>
        <p:spPr>
          <a:xfrm>
            <a:off x="6588125" y="2222500"/>
            <a:ext cx="2303463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zh-CN" altLang="en-US" sz="4000" dirty="0">
                <a:solidFill>
                  <a:srgbClr val="CC3300"/>
                </a:solidFill>
                <a:latin typeface="隶书" pitchFamily="49" charset="-122"/>
                <a:ea typeface="隶书" pitchFamily="49" charset="-122"/>
              </a:rPr>
              <a:t>注音释义</a:t>
            </a:r>
          </a:p>
        </p:txBody>
      </p:sp>
      <p:sp>
        <p:nvSpPr>
          <p:cNvPr id="16387" name="Text Box 3"/>
          <p:cNvSpPr txBox="1"/>
          <p:nvPr/>
        </p:nvSpPr>
        <p:spPr>
          <a:xfrm>
            <a:off x="468313" y="1398588"/>
            <a:ext cx="8785225" cy="4478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癸</a:t>
            </a:r>
            <a:r>
              <a:rPr lang="en-US" altLang="zh-CN" sz="3200" b="1" dirty="0">
                <a:latin typeface="宋体" panose="02010600030101010101" pitchFamily="2" charset="-122"/>
              </a:rPr>
              <a:t>ɡuǐ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：天干的第十位。</a:t>
            </a:r>
          </a:p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禊</a:t>
            </a:r>
            <a:r>
              <a:rPr lang="en-US" altLang="zh-CN" sz="3200" b="1" dirty="0">
                <a:latin typeface="宋体" panose="02010600030101010101" pitchFamily="2" charset="-122"/>
              </a:rPr>
              <a:t>xì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事：一种洗濯祈福的祭祀。</a:t>
            </a:r>
          </a:p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会稽</a:t>
            </a:r>
            <a:r>
              <a:rPr lang="en-US" altLang="zh-CN" sz="3200" b="1" dirty="0">
                <a:latin typeface="宋体" panose="02010600030101010101" pitchFamily="2" charset="-122"/>
              </a:rPr>
              <a:t>kuàijī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：郡名。</a:t>
            </a:r>
          </a:p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激湍</a:t>
            </a:r>
            <a:r>
              <a:rPr lang="en-US" altLang="zh-CN" sz="3200" b="1" dirty="0">
                <a:latin typeface="宋体" panose="02010600030101010101" pitchFamily="2" charset="-122"/>
              </a:rPr>
              <a:t>tuān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：流势急的水。</a:t>
            </a:r>
          </a:p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流觞</a:t>
            </a:r>
            <a:r>
              <a:rPr lang="en-US" altLang="zh-CN" sz="3200" b="1" dirty="0">
                <a:latin typeface="宋体" panose="02010600030101010101" pitchFamily="2" charset="-122"/>
              </a:rPr>
              <a:t>shānɡ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：盛酒的杯顺流而下，人取而饮。</a:t>
            </a:r>
          </a:p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曾</a:t>
            </a:r>
            <a:r>
              <a:rPr lang="en-US" altLang="zh-CN" sz="3200" b="1" dirty="0">
                <a:latin typeface="宋体" panose="02010600030101010101" pitchFamily="2" charset="-122"/>
              </a:rPr>
              <a:t>zēnɡ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：乃，竟。</a:t>
            </a:r>
          </a:p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契</a:t>
            </a:r>
            <a:r>
              <a:rPr lang="en-US" altLang="zh-CN" sz="3200" b="1" dirty="0">
                <a:latin typeface="宋体" panose="02010600030101010101" pitchFamily="2" charset="-122"/>
              </a:rPr>
              <a:t>qì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：符契；竹木刻成，分成两半，可为凭验。</a:t>
            </a:r>
          </a:p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殇</a:t>
            </a:r>
            <a:r>
              <a:rPr lang="en-US" altLang="zh-CN" sz="3200" b="1" dirty="0">
                <a:latin typeface="宋体" panose="02010600030101010101" pitchFamily="2" charset="-122"/>
              </a:rPr>
              <a:t>shānɡ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：未成年死去的人。</a:t>
            </a:r>
          </a:p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感慨系</a:t>
            </a:r>
            <a:r>
              <a:rPr lang="en-US" altLang="zh-CN" sz="3200" b="1" dirty="0">
                <a:latin typeface="宋体" panose="02010600030101010101" pitchFamily="2" charset="-122"/>
              </a:rPr>
              <a:t>xì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之：感慨随着产生；系，附着。</a:t>
            </a:r>
          </a:p>
        </p:txBody>
      </p:sp>
      <p:pic>
        <p:nvPicPr>
          <p:cNvPr id="16388" name="Picture 4" descr="lantjixu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92838" y="0"/>
            <a:ext cx="2951162" cy="2276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9" name="WordArt 5"/>
          <p:cNvSpPr>
            <a:spLocks noTextEdit="1"/>
          </p:cNvSpPr>
          <p:nvPr/>
        </p:nvSpPr>
        <p:spPr>
          <a:xfrm>
            <a:off x="2843213" y="404813"/>
            <a:ext cx="3168650" cy="7191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accent2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字词积累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7" descr="5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59" name="Rectangle 3"/>
          <p:cNvSpPr>
            <a:spLocks noGrp="1"/>
          </p:cNvSpPr>
          <p:nvPr>
            <p:ph type="subTitle" idx="1"/>
          </p:nvPr>
        </p:nvSpPr>
        <p:spPr>
          <a:xfrm>
            <a:off x="152400" y="533400"/>
            <a:ext cx="4038600" cy="6096000"/>
          </a:xfrm>
          <a:ln>
            <a:solidFill>
              <a:srgbClr val="FF0000">
                <a:alpha val="100000"/>
              </a:srgbClr>
            </a:solidFill>
            <a:miter/>
          </a:ln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80000"/>
              </a:lnSpc>
              <a:buClrTx/>
              <a:buSzTx/>
              <a:buFontTx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永和九年，岁在癸丑，暮春之初，</a:t>
            </a: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endParaRPr lang="zh-CN" altLang="en-US" sz="2000" b="1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会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于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会稽山阴之兰亭，修禊事也。</a:t>
            </a: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endParaRPr lang="zh-CN" altLang="en-US" sz="2000" b="1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群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贤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毕至，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少长咸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集。</a:t>
            </a: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endParaRPr lang="zh-CN" altLang="en-US" sz="2000" b="1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此地有崇山峻岭，茂林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修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竹；又有清流激湍，映带左右，</a:t>
            </a: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endParaRPr lang="zh-CN" altLang="en-US" sz="2000" b="1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引      以为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流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觞曲水，列坐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其次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。</a:t>
            </a: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endParaRPr lang="zh-CN" altLang="en-US" sz="2000" b="1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虽无丝竹管弦之盛，一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觞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一咏，亦足以畅叙幽情。 </a:t>
            </a: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endParaRPr lang="zh-CN" altLang="en-US" sz="2000" b="1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是日也，天朗气清，惠风和畅，</a:t>
            </a: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endParaRPr lang="zh-CN" altLang="en-US" sz="2000" b="1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仰观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宇宙之大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，俯察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品类之盛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，</a:t>
            </a: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endParaRPr lang="zh-CN" altLang="en-US" sz="2000" b="1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所以游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目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骋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怀，足以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极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视听之娱，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信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可乐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也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cs typeface="+mn-cs"/>
              </a:rPr>
              <a:t>。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</a:p>
        </p:txBody>
      </p:sp>
      <p:sp>
        <p:nvSpPr>
          <p:cNvPr id="19460" name="Text Box 8"/>
          <p:cNvSpPr txBox="1"/>
          <p:nvPr/>
        </p:nvSpPr>
        <p:spPr>
          <a:xfrm>
            <a:off x="0" y="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</a:rPr>
              <a:t>第一段</a:t>
            </a:r>
          </a:p>
        </p:txBody>
      </p:sp>
      <p:sp>
        <p:nvSpPr>
          <p:cNvPr id="4105" name="Text Box 9"/>
          <p:cNvSpPr txBox="1"/>
          <p:nvPr/>
        </p:nvSpPr>
        <p:spPr>
          <a:xfrm>
            <a:off x="533400" y="3200400"/>
            <a:ext cx="685800" cy="37623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</a:rPr>
              <a:t>（之）</a:t>
            </a:r>
          </a:p>
        </p:txBody>
      </p:sp>
      <p:sp>
        <p:nvSpPr>
          <p:cNvPr id="4106" name="Text Box 10"/>
          <p:cNvSpPr txBox="1"/>
          <p:nvPr/>
        </p:nvSpPr>
        <p:spPr>
          <a:xfrm>
            <a:off x="0" y="2057400"/>
            <a:ext cx="13716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adj—n.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贤士</a:t>
            </a:r>
          </a:p>
        </p:txBody>
      </p:sp>
      <p:sp>
        <p:nvSpPr>
          <p:cNvPr id="4107" name="Text Box 11"/>
          <p:cNvSpPr txBox="1"/>
          <p:nvPr/>
        </p:nvSpPr>
        <p:spPr>
          <a:xfrm>
            <a:off x="1524000" y="2057400"/>
            <a:ext cx="3200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adj—n.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年轻人，年长的人</a:t>
            </a:r>
          </a:p>
        </p:txBody>
      </p:sp>
      <p:sp>
        <p:nvSpPr>
          <p:cNvPr id="4108" name="AutoShape 12"/>
          <p:cNvSpPr/>
          <p:nvPr/>
        </p:nvSpPr>
        <p:spPr>
          <a:xfrm>
            <a:off x="3276600" y="1600200"/>
            <a:ext cx="838200" cy="304800"/>
          </a:xfrm>
          <a:prstGeom prst="wedgeRoundRectCallout">
            <a:avLst>
              <a:gd name="adj1" fmla="val -107384"/>
              <a:gd name="adj2" fmla="val 34898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b="1" dirty="0">
                <a:latin typeface="Arial" panose="020B0604020202020204" pitchFamily="34" charset="0"/>
              </a:rPr>
              <a:t>都</a:t>
            </a:r>
          </a:p>
        </p:txBody>
      </p:sp>
      <p:sp>
        <p:nvSpPr>
          <p:cNvPr id="4109" name="Text Box 13"/>
          <p:cNvSpPr txBox="1"/>
          <p:nvPr/>
        </p:nvSpPr>
        <p:spPr>
          <a:xfrm>
            <a:off x="685800" y="5029200"/>
            <a:ext cx="2438400" cy="3460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Arial" panose="020B0604020202020204" pitchFamily="34" charset="0"/>
              </a:rPr>
              <a:t>定语后置，之，定后标志</a:t>
            </a:r>
          </a:p>
        </p:txBody>
      </p:sp>
      <p:sp>
        <p:nvSpPr>
          <p:cNvPr id="4110" name="Text Box 14"/>
          <p:cNvSpPr txBox="1"/>
          <p:nvPr/>
        </p:nvSpPr>
        <p:spPr>
          <a:xfrm>
            <a:off x="228600" y="6248400"/>
            <a:ext cx="762000" cy="3460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Arial" panose="020B0604020202020204" pitchFamily="34" charset="0"/>
              </a:rPr>
              <a:t>用来</a:t>
            </a:r>
          </a:p>
        </p:txBody>
      </p:sp>
      <p:sp>
        <p:nvSpPr>
          <p:cNvPr id="4111" name="Text Box 15"/>
          <p:cNvSpPr txBox="1"/>
          <p:nvPr/>
        </p:nvSpPr>
        <p:spPr>
          <a:xfrm>
            <a:off x="1371600" y="6481763"/>
            <a:ext cx="762000" cy="3762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Arial" panose="020B0604020202020204" pitchFamily="34" charset="0"/>
              </a:rPr>
              <a:t>实在</a:t>
            </a:r>
          </a:p>
        </p:txBody>
      </p:sp>
      <p:sp>
        <p:nvSpPr>
          <p:cNvPr id="4112" name="Text Box 16"/>
          <p:cNvSpPr txBox="1"/>
          <p:nvPr/>
        </p:nvSpPr>
        <p:spPr>
          <a:xfrm>
            <a:off x="2895600" y="5562600"/>
            <a:ext cx="1981200" cy="3460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Arial" panose="020B0604020202020204" pitchFamily="34" charset="0"/>
              </a:rPr>
              <a:t>副词作动词，穷尽</a:t>
            </a:r>
          </a:p>
        </p:txBody>
      </p:sp>
      <p:sp>
        <p:nvSpPr>
          <p:cNvPr id="4113" name="Text Box 17"/>
          <p:cNvSpPr txBox="1"/>
          <p:nvPr/>
        </p:nvSpPr>
        <p:spPr>
          <a:xfrm>
            <a:off x="1828800" y="3505200"/>
            <a:ext cx="3276600" cy="33813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Arial" panose="020B0604020202020204" pitchFamily="34" charset="0"/>
              </a:rPr>
              <a:t>古：水的旁边；今：次要的地位</a:t>
            </a:r>
          </a:p>
        </p:txBody>
      </p:sp>
      <p:sp>
        <p:nvSpPr>
          <p:cNvPr id="4114" name="Text Box 18"/>
          <p:cNvSpPr txBox="1"/>
          <p:nvPr/>
        </p:nvSpPr>
        <p:spPr>
          <a:xfrm>
            <a:off x="3276600" y="2743200"/>
            <a:ext cx="381000" cy="3460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Arial" panose="020B0604020202020204" pitchFamily="34" charset="0"/>
              </a:rPr>
              <a:t>长</a:t>
            </a:r>
          </a:p>
        </p:txBody>
      </p:sp>
      <p:sp>
        <p:nvSpPr>
          <p:cNvPr id="4115" name="Text Box 19"/>
          <p:cNvSpPr txBox="1"/>
          <p:nvPr/>
        </p:nvSpPr>
        <p:spPr>
          <a:xfrm>
            <a:off x="457200" y="1447800"/>
            <a:ext cx="990600" cy="3460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Arial" panose="020B0604020202020204" pitchFamily="34" charset="0"/>
              </a:rPr>
              <a:t>状后句</a:t>
            </a:r>
          </a:p>
        </p:txBody>
      </p:sp>
      <p:sp>
        <p:nvSpPr>
          <p:cNvPr id="4117" name="Text Box 21"/>
          <p:cNvSpPr txBox="1"/>
          <p:nvPr/>
        </p:nvSpPr>
        <p:spPr>
          <a:xfrm>
            <a:off x="4953000" y="5334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9900FF"/>
                </a:solidFill>
                <a:latin typeface="Times New Roman" panose="02020603050405020304" pitchFamily="18" charset="0"/>
                <a:ea typeface="隶书" pitchFamily="49" charset="-122"/>
              </a:rPr>
              <a:t>时间</a:t>
            </a:r>
          </a:p>
        </p:txBody>
      </p:sp>
      <p:sp>
        <p:nvSpPr>
          <p:cNvPr id="4118" name="Text Box 22"/>
          <p:cNvSpPr txBox="1"/>
          <p:nvPr/>
        </p:nvSpPr>
        <p:spPr>
          <a:xfrm>
            <a:off x="4953000" y="11430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9900FF"/>
                </a:solidFill>
                <a:latin typeface="Times New Roman" panose="02020603050405020304" pitchFamily="18" charset="0"/>
                <a:ea typeface="隶书" pitchFamily="49" charset="-122"/>
              </a:rPr>
              <a:t>地点</a:t>
            </a:r>
          </a:p>
        </p:txBody>
      </p:sp>
      <p:sp>
        <p:nvSpPr>
          <p:cNvPr id="4119" name="Text Box 23"/>
          <p:cNvSpPr txBox="1"/>
          <p:nvPr/>
        </p:nvSpPr>
        <p:spPr>
          <a:xfrm>
            <a:off x="6096000" y="11430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9900FF"/>
                </a:solidFill>
                <a:latin typeface="Times New Roman" panose="02020603050405020304" pitchFamily="18" charset="0"/>
                <a:ea typeface="隶书" pitchFamily="49" charset="-122"/>
              </a:rPr>
              <a:t>事由</a:t>
            </a:r>
          </a:p>
        </p:txBody>
      </p:sp>
      <p:sp>
        <p:nvSpPr>
          <p:cNvPr id="4120" name="Text Box 24"/>
          <p:cNvSpPr txBox="1"/>
          <p:nvPr/>
        </p:nvSpPr>
        <p:spPr>
          <a:xfrm>
            <a:off x="4876800" y="17526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rgbClr val="9900FF"/>
                </a:solidFill>
                <a:latin typeface="Times New Roman" panose="02020603050405020304" pitchFamily="18" charset="0"/>
                <a:ea typeface="隶书" pitchFamily="49" charset="-122"/>
              </a:rPr>
              <a:t>人物</a:t>
            </a:r>
          </a:p>
        </p:txBody>
      </p:sp>
      <p:sp>
        <p:nvSpPr>
          <p:cNvPr id="4121" name="Text Box 25"/>
          <p:cNvSpPr txBox="1"/>
          <p:nvPr/>
        </p:nvSpPr>
        <p:spPr>
          <a:xfrm>
            <a:off x="4953000" y="24384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rgbClr val="9900FF"/>
                </a:solidFill>
                <a:latin typeface="Times New Roman" panose="02020603050405020304" pitchFamily="18" charset="0"/>
                <a:ea typeface="隶书" pitchFamily="49" charset="-122"/>
              </a:rPr>
              <a:t>环境</a:t>
            </a:r>
          </a:p>
        </p:txBody>
      </p:sp>
      <p:sp>
        <p:nvSpPr>
          <p:cNvPr id="4122" name="Text Box 26">
            <a:hlinkClick r:id="rId3" action="ppaction://hlinkpres?slideindex=1&amp;slidetitle="/>
          </p:cNvPr>
          <p:cNvSpPr txBox="1"/>
          <p:nvPr/>
        </p:nvSpPr>
        <p:spPr>
          <a:xfrm>
            <a:off x="4953000" y="32004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9900FF"/>
                </a:solidFill>
                <a:latin typeface="Times New Roman" panose="02020603050405020304" pitchFamily="18" charset="0"/>
                <a:ea typeface="隶书" pitchFamily="49" charset="-122"/>
              </a:rPr>
              <a:t>活动</a:t>
            </a:r>
          </a:p>
        </p:txBody>
      </p:sp>
      <p:sp>
        <p:nvSpPr>
          <p:cNvPr id="4123" name="Text Box 27"/>
          <p:cNvSpPr txBox="1"/>
          <p:nvPr/>
        </p:nvSpPr>
        <p:spPr>
          <a:xfrm>
            <a:off x="4953000" y="46482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9900FF"/>
                </a:solidFill>
                <a:latin typeface="Times New Roman" panose="02020603050405020304" pitchFamily="18" charset="0"/>
                <a:ea typeface="隶书" pitchFamily="49" charset="-122"/>
              </a:rPr>
              <a:t>天气</a:t>
            </a:r>
          </a:p>
        </p:txBody>
      </p:sp>
      <p:sp>
        <p:nvSpPr>
          <p:cNvPr id="4124" name="Text Box 28"/>
          <p:cNvSpPr txBox="1"/>
          <p:nvPr/>
        </p:nvSpPr>
        <p:spPr>
          <a:xfrm>
            <a:off x="5029200" y="59436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9900FF"/>
                </a:solidFill>
                <a:latin typeface="Times New Roman" panose="02020603050405020304" pitchFamily="18" charset="0"/>
                <a:ea typeface="隶书" pitchFamily="49" charset="-122"/>
              </a:rPr>
              <a:t>感叹</a:t>
            </a:r>
          </a:p>
        </p:txBody>
      </p:sp>
      <p:sp>
        <p:nvSpPr>
          <p:cNvPr id="4126" name="Text Box 30"/>
          <p:cNvSpPr txBox="1"/>
          <p:nvPr/>
        </p:nvSpPr>
        <p:spPr>
          <a:xfrm>
            <a:off x="1371600" y="2971800"/>
            <a:ext cx="1524000" cy="3460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Arial" panose="020B0604020202020204" pitchFamily="34" charset="0"/>
              </a:rPr>
              <a:t>使动，使</a:t>
            </a:r>
            <a:r>
              <a:rPr lang="en-US" altLang="zh-CN" sz="1600" b="1" dirty="0">
                <a:latin typeface="Arial" panose="020B0604020202020204" pitchFamily="34" charset="0"/>
              </a:rPr>
              <a:t>…</a:t>
            </a:r>
            <a:r>
              <a:rPr lang="zh-CN" altLang="en-US" sz="1600" b="1" dirty="0">
                <a:latin typeface="Arial" panose="020B0604020202020204" pitchFamily="34" charset="0"/>
              </a:rPr>
              <a:t>流</a:t>
            </a:r>
          </a:p>
        </p:txBody>
      </p:sp>
      <p:sp>
        <p:nvSpPr>
          <p:cNvPr id="4128" name="Text Box 32"/>
          <p:cNvSpPr txBox="1"/>
          <p:nvPr/>
        </p:nvSpPr>
        <p:spPr>
          <a:xfrm>
            <a:off x="381000" y="5562600"/>
            <a:ext cx="2286000" cy="3460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Arial" panose="020B0604020202020204" pitchFamily="34" charset="0"/>
              </a:rPr>
              <a:t>使动，使</a:t>
            </a:r>
            <a:r>
              <a:rPr lang="en-US" altLang="zh-CN" sz="1600" b="1" dirty="0">
                <a:latin typeface="Arial" panose="020B0604020202020204" pitchFamily="34" charset="0"/>
              </a:rPr>
              <a:t>…</a:t>
            </a:r>
            <a:r>
              <a:rPr lang="zh-CN" altLang="en-US" sz="1600" b="1" dirty="0">
                <a:latin typeface="Arial" panose="020B0604020202020204" pitchFamily="34" charset="0"/>
              </a:rPr>
              <a:t>舒展、放开</a:t>
            </a:r>
          </a:p>
        </p:txBody>
      </p:sp>
      <p:sp>
        <p:nvSpPr>
          <p:cNvPr id="19482" name="Text Box 33">
            <a:hlinkClick r:id="rId3" action="ppaction://hlinkpres?slideindex=1&amp;slidetitle="/>
          </p:cNvPr>
          <p:cNvSpPr txBox="1"/>
          <p:nvPr/>
        </p:nvSpPr>
        <p:spPr>
          <a:xfrm>
            <a:off x="7315200" y="6172200"/>
            <a:ext cx="1371600" cy="376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总结</a:t>
            </a:r>
          </a:p>
        </p:txBody>
      </p:sp>
      <p:sp>
        <p:nvSpPr>
          <p:cNvPr id="4130" name="Text Box 34"/>
          <p:cNvSpPr txBox="1"/>
          <p:nvPr/>
        </p:nvSpPr>
        <p:spPr>
          <a:xfrm>
            <a:off x="7239000" y="3048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乐</a:t>
            </a:r>
          </a:p>
        </p:txBody>
      </p:sp>
      <p:sp>
        <p:nvSpPr>
          <p:cNvPr id="4131" name="Text Box 35"/>
          <p:cNvSpPr txBox="1"/>
          <p:nvPr/>
        </p:nvSpPr>
        <p:spPr>
          <a:xfrm>
            <a:off x="7162800" y="12192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</a:rPr>
              <a:t>人众</a:t>
            </a:r>
          </a:p>
        </p:txBody>
      </p:sp>
      <p:sp>
        <p:nvSpPr>
          <p:cNvPr id="4132" name="Text Box 36"/>
          <p:cNvSpPr txBox="1"/>
          <p:nvPr/>
        </p:nvSpPr>
        <p:spPr>
          <a:xfrm>
            <a:off x="7239000" y="22098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</a:rPr>
              <a:t>地胜</a:t>
            </a:r>
          </a:p>
        </p:txBody>
      </p:sp>
      <p:sp>
        <p:nvSpPr>
          <p:cNvPr id="4133" name="Text Box 37"/>
          <p:cNvSpPr txBox="1"/>
          <p:nvPr/>
        </p:nvSpPr>
        <p:spPr>
          <a:xfrm>
            <a:off x="7239000" y="32004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</a:rPr>
              <a:t>事趣</a:t>
            </a:r>
          </a:p>
        </p:txBody>
      </p:sp>
      <p:sp>
        <p:nvSpPr>
          <p:cNvPr id="4134" name="Text Box 38"/>
          <p:cNvSpPr txBox="1"/>
          <p:nvPr/>
        </p:nvSpPr>
        <p:spPr>
          <a:xfrm>
            <a:off x="7239000" y="41910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</a:rPr>
              <a:t>时美</a:t>
            </a:r>
          </a:p>
        </p:txBody>
      </p:sp>
      <p:sp>
        <p:nvSpPr>
          <p:cNvPr id="4135" name="Text Box 39"/>
          <p:cNvSpPr txBox="1"/>
          <p:nvPr/>
        </p:nvSpPr>
        <p:spPr>
          <a:xfrm>
            <a:off x="7239000" y="53340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</a:rPr>
              <a:t>兴雅</a:t>
            </a:r>
          </a:p>
        </p:txBody>
      </p:sp>
      <p:sp>
        <p:nvSpPr>
          <p:cNvPr id="4136" name="Text Box 40"/>
          <p:cNvSpPr txBox="1"/>
          <p:nvPr/>
        </p:nvSpPr>
        <p:spPr>
          <a:xfrm>
            <a:off x="2971800" y="4191000"/>
            <a:ext cx="1447800" cy="3460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Arial" panose="020B0604020202020204" pitchFamily="34" charset="0"/>
              </a:rPr>
              <a:t>名作动，喝酒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5" grpId="0" animBg="1"/>
      <p:bldP spid="4106" grpId="0"/>
      <p:bldP spid="4107" grpId="0"/>
      <p:bldP spid="4108" grpId="0" animBg="1"/>
      <p:bldP spid="4109" grpId="0" animBg="1"/>
      <p:bldP spid="4110" grpId="0" animBg="1"/>
      <p:bldP spid="4111" grpId="0" animBg="1"/>
      <p:bldP spid="4112" grpId="0" animBg="1"/>
      <p:bldP spid="4113" grpId="0" animBg="1"/>
      <p:bldP spid="4114" grpId="0" animBg="1"/>
      <p:bldP spid="4115" grpId="0" animBg="1"/>
      <p:bldP spid="4117" grpId="0"/>
      <p:bldP spid="4118" grpId="0"/>
      <p:bldP spid="4119" grpId="0"/>
      <p:bldP spid="4120" grpId="0"/>
      <p:bldP spid="4121" grpId="0"/>
      <p:bldP spid="4122" grpId="0"/>
      <p:bldP spid="4123" grpId="0"/>
      <p:bldP spid="4124" grpId="0"/>
      <p:bldP spid="4126" grpId="0" animBg="1"/>
      <p:bldP spid="4128" grpId="0" animBg="1"/>
      <p:bldP spid="4130" grpId="0"/>
      <p:bldP spid="4131" grpId="0"/>
      <p:bldP spid="4132" grpId="0"/>
      <p:bldP spid="4133" grpId="0"/>
      <p:bldP spid="4134" grpId="0"/>
      <p:bldP spid="4135" grpId="0"/>
      <p:bldP spid="41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jsrh708"/>
          <p:cNvPicPr>
            <a:picLocks noChangeAspect="1"/>
          </p:cNvPicPr>
          <p:nvPr/>
        </p:nvPicPr>
        <p:blipFill>
          <a:blip r:embed="rId2"/>
          <a:srcRect t="4517" r="3542" b="928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3" name="Text Box 3"/>
          <p:cNvSpPr txBox="1"/>
          <p:nvPr/>
        </p:nvSpPr>
        <p:spPr>
          <a:xfrm>
            <a:off x="5972175" y="333375"/>
            <a:ext cx="2921000" cy="823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800" dirty="0">
                <a:solidFill>
                  <a:schemeClr val="bg1"/>
                </a:solidFill>
                <a:latin typeface="Times New Roman" panose="02020603050405020304" pitchFamily="18" charset="0"/>
                <a:ea typeface="隶书" pitchFamily="49" charset="-122"/>
              </a:rPr>
              <a:t>流觞曲水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/>
          <p:nvPr/>
        </p:nvSpPr>
        <p:spPr>
          <a:xfrm>
            <a:off x="827088" y="1989138"/>
            <a:ext cx="7200900" cy="2041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</a:rPr>
              <a:t>古人的一种游艺项目，众人坐在环曲的溪水边，把酒杯放在水面上任其漂动，停于某人处，即取而饮之，或吟咏诗赋来代替。 </a:t>
            </a:r>
          </a:p>
        </p:txBody>
      </p:sp>
      <p:sp>
        <p:nvSpPr>
          <p:cNvPr id="22531" name="Rectangle 3"/>
          <p:cNvSpPr/>
          <p:nvPr/>
        </p:nvSpPr>
        <p:spPr>
          <a:xfrm>
            <a:off x="827088" y="620713"/>
            <a:ext cx="3078162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流觞曲水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/>
          <p:nvPr/>
        </p:nvSpPr>
        <p:spPr>
          <a:xfrm>
            <a:off x="827088" y="981075"/>
            <a:ext cx="7775575" cy="5453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</a:rPr>
              <a:t>当年王羲之邀集</a:t>
            </a: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</a:rPr>
              <a:t>41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</a:rPr>
              <a:t>位友人举行曲水流觞的地方。曲水全长</a:t>
            </a: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</a:rPr>
              <a:t>30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</a:rPr>
              <a:t>余米，想当年，王羲之与名士们列坐在曲水两旁，装有酒的杯子</a:t>
            </a: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</a:rPr>
              <a:t>称之为“觞”</a:t>
            </a: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</a:rPr>
              <a:t>在弯弯曲曲的水面上飘流，由于水流曲折，觞时流时停，按规定，觞停止在谁的面前，谁就得赋诗，否则就要罚酒。这既是一种游戏，又颇含雅兴，令人神往不己。直到今天，每年三月三日，有许多书法家、画家、文学家都会汇集此地，流觞曲水，借古人之地，抒现代人的豪情。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 descr="image/img173489_3.jpg"/>
          <p:cNvPicPr>
            <a:picLocks noChangeAspect="1"/>
          </p:cNvPicPr>
          <p:nvPr/>
        </p:nvPicPr>
        <p:blipFill>
          <a:blip r:embed="rId2">
            <a:lum bright="-6000" contrast="6000"/>
          </a:blip>
          <a:stretch>
            <a:fillRect/>
          </a:stretch>
        </p:blipFill>
        <p:spPr>
          <a:xfrm>
            <a:off x="304800" y="228600"/>
            <a:ext cx="8610600" cy="5943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9" name="WordArt 3"/>
          <p:cNvSpPr>
            <a:spLocks noTextEdit="1"/>
          </p:cNvSpPr>
          <p:nvPr/>
        </p:nvSpPr>
        <p:spPr>
          <a:xfrm>
            <a:off x="1066800" y="5029200"/>
            <a:ext cx="70866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 eaLnBrk="0" hangingPunct="0"/>
            <a:r>
              <a:rPr lang="zh-CN" altLang="en-US" sz="3600" b="1">
                <a:ln w="1905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00"/>
                </a:solidFill>
                <a:effectLst>
                  <a:outerShdw dist="35921" dir="2699999" algn="ctr" rotWithShape="0">
                    <a:srgbClr val="990000"/>
                  </a:outerShdw>
                </a:effectLst>
                <a:latin typeface="华文行楷" charset="0"/>
                <a:ea typeface="华文行楷" charset="0"/>
              </a:rPr>
              <a:t>古之“曲水流觞”处</a:t>
            </a:r>
          </a:p>
        </p:txBody>
      </p:sp>
      <p:sp>
        <p:nvSpPr>
          <p:cNvPr id="24580" name="Text Box 4">
            <a:hlinkClick r:id="rId3" action="ppaction://hlinkpres?slideindex=1&amp;slidetitle="/>
          </p:cNvPr>
          <p:cNvSpPr txBox="1"/>
          <p:nvPr/>
        </p:nvSpPr>
        <p:spPr>
          <a:xfrm>
            <a:off x="6248400" y="6324600"/>
            <a:ext cx="11430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返回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611188" y="382588"/>
            <a:ext cx="3600450" cy="6070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zh-CN" altLang="en-US" sz="2800" b="1" kern="1200" cap="none" spc="0" normalizeH="0" baseline="0" noProof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作者用简洁雅净、铿铿有致的语言，写出了宴集之地优美的自然风光。我们仿佛看到了这些雅士间儒雅的风度和诗意人生，这种美好的聚会自此以后成为千古美谈。</a:t>
            </a:r>
            <a:br>
              <a:rPr kumimoji="0" lang="zh-CN" altLang="en-US" sz="2800" b="1" kern="1200" cap="none" spc="0" normalizeH="0" baseline="0" noProof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kumimoji="0" lang="zh-CN" altLang="en-US" sz="2800" b="1" kern="1200" cap="none" spc="0" normalizeH="0" baseline="0" noProof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作者发出由衷的感叹，</a:t>
            </a:r>
            <a:r>
              <a:rPr kumimoji="0" lang="en-US" altLang="zh-CN" sz="2800" b="1" kern="1200" cap="none" spc="0" normalizeH="0" baseline="0" noProof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</a:t>
            </a:r>
            <a:r>
              <a:rPr kumimoji="0" lang="zh-CN" altLang="en-US" sz="2800" b="1" kern="1200" cap="none" spc="0" normalizeH="0" baseline="0" noProof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信可乐也</a:t>
            </a:r>
            <a:r>
              <a:rPr kumimoji="0" lang="en-US" altLang="zh-CN" sz="2800" b="1" kern="1200" cap="none" spc="0" normalizeH="0" baseline="0" noProof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</a:t>
            </a:r>
            <a:r>
              <a:rPr kumimoji="0" lang="zh-CN" altLang="en-US" sz="2800" b="1" kern="1200" cap="none" spc="0" normalizeH="0" baseline="0" noProof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。这实在是人生的极致。这种乐是对兰亭美景的陶醉，是来自于兰亭集会的畅快。 </a:t>
            </a:r>
          </a:p>
        </p:txBody>
      </p:sp>
      <p:pic>
        <p:nvPicPr>
          <p:cNvPr id="11267" name="Picture 3" descr="200212281749486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663" y="549275"/>
            <a:ext cx="4260850" cy="5689600"/>
          </a:xfrm>
          <a:prstGeom prst="rect">
            <a:avLst/>
          </a:prstGeom>
          <a:noFill/>
          <a:ln w="76200" cap="flat" cmpd="tri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3"/>
          <p:cNvSpPr txBox="1"/>
          <p:nvPr/>
        </p:nvSpPr>
        <p:spPr>
          <a:xfrm>
            <a:off x="0" y="533400"/>
            <a:ext cx="4876800" cy="6070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000" b="1" dirty="0">
                <a:latin typeface="宋体" panose="02010600030101010101" pitchFamily="2" charset="-122"/>
              </a:rPr>
              <a:t>     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夫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人之相与，俯仰一世。</a:t>
            </a:r>
          </a:p>
          <a:p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或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取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诸怀抱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悟言（于）一室之内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；</a:t>
            </a:r>
          </a:p>
          <a:p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或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因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寄所托，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放浪（于）形骸之外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虽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趣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舍万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殊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，静躁不同，当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其欣于所遇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暂得于己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</a:t>
            </a:r>
          </a:p>
          <a:p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快然自足，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曾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不知老之将至。</a:t>
            </a: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1187450" y="6491288"/>
            <a:ext cx="720725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endParaRPr kumimoji="1" lang="zh-CN" altLang="zh-CN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华文行楷" pitchFamily="2" charset="-122"/>
              <a:cs typeface="+mn-cs"/>
            </a:endParaRPr>
          </a:p>
        </p:txBody>
      </p:sp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4800600" y="1524000"/>
            <a:ext cx="43434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有的人从自己的情趣思想中取出一些东西，</a:t>
            </a:r>
            <a:r>
              <a:rPr kumimoji="1" lang="zh-CN" altLang="en-US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在室内（跟朋友）面对面地交谈；</a:t>
            </a:r>
            <a:r>
              <a:rPr kumimoji="1" lang="zh-CN" altLang="en-US" kern="1200" cap="none" spc="0" normalizeH="0" baseline="0" noProof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4876800" y="2743200"/>
            <a:ext cx="41148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" panose="02010609060101010101" pitchFamily="49" charset="-122"/>
                <a:cs typeface="+mn-cs"/>
              </a:rPr>
              <a:t>有人将自己的情怀寄托于事物之中，</a:t>
            </a:r>
            <a:r>
              <a:rPr kumimoji="1" lang="zh-CN" altLang="en-US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在形体之外，不受任何约束地放纵地生活</a:t>
            </a: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r>
              <a:rPr kumimoji="1" lang="zh-CN" altLang="en-US" kern="1200" cap="none" spc="0" normalizeH="0" baseline="0" noProof="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73735" name="Text Box 7"/>
          <p:cNvSpPr txBox="1">
            <a:spLocks noChangeArrowheads="1"/>
          </p:cNvSpPr>
          <p:nvPr/>
        </p:nvSpPr>
        <p:spPr bwMode="auto">
          <a:xfrm>
            <a:off x="4876800" y="5715000"/>
            <a:ext cx="40386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就高兴地自我满足起来，竟不知道衰老即将到来 </a:t>
            </a:r>
          </a:p>
        </p:txBody>
      </p:sp>
      <p:sp>
        <p:nvSpPr>
          <p:cNvPr id="26631" name="Text Box 8"/>
          <p:cNvSpPr txBox="1"/>
          <p:nvPr/>
        </p:nvSpPr>
        <p:spPr>
          <a:xfrm>
            <a:off x="0" y="0"/>
            <a:ext cx="990600" cy="37623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第二段</a:t>
            </a:r>
          </a:p>
        </p:txBody>
      </p:sp>
      <p:sp>
        <p:nvSpPr>
          <p:cNvPr id="73738" name="Text Box 10"/>
          <p:cNvSpPr txBox="1"/>
          <p:nvPr/>
        </p:nvSpPr>
        <p:spPr>
          <a:xfrm>
            <a:off x="228600" y="4038600"/>
            <a:ext cx="1676400" cy="376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通“取”，选取</a:t>
            </a:r>
          </a:p>
        </p:txBody>
      </p:sp>
      <p:sp>
        <p:nvSpPr>
          <p:cNvPr id="73739" name="Text Box 11"/>
          <p:cNvSpPr txBox="1"/>
          <p:nvPr/>
        </p:nvSpPr>
        <p:spPr>
          <a:xfrm>
            <a:off x="1752600" y="6172200"/>
            <a:ext cx="609600" cy="376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竟</a:t>
            </a:r>
          </a:p>
        </p:txBody>
      </p:sp>
      <p:sp>
        <p:nvSpPr>
          <p:cNvPr id="73750" name="Text Box 22"/>
          <p:cNvSpPr txBox="1"/>
          <p:nvPr/>
        </p:nvSpPr>
        <p:spPr>
          <a:xfrm>
            <a:off x="152400" y="1066800"/>
            <a:ext cx="1905000" cy="376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兼词，“之于”</a:t>
            </a:r>
          </a:p>
        </p:txBody>
      </p:sp>
      <p:sp>
        <p:nvSpPr>
          <p:cNvPr id="73751" name="Text Box 23"/>
          <p:cNvSpPr txBox="1">
            <a:spLocks noChangeArrowheads="1"/>
          </p:cNvSpPr>
          <p:nvPr/>
        </p:nvSpPr>
        <p:spPr bwMode="auto">
          <a:xfrm>
            <a:off x="4800600" y="609600"/>
            <a:ext cx="4137025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" panose="02010609060101010101" pitchFamily="49" charset="-122"/>
                <a:cs typeface="+mn-cs"/>
              </a:rPr>
              <a:t>人们彼此相处，俯仰之间（就是）一生 </a:t>
            </a:r>
          </a:p>
        </p:txBody>
      </p:sp>
      <p:sp>
        <p:nvSpPr>
          <p:cNvPr id="73752" name="Text Box 24"/>
          <p:cNvSpPr txBox="1">
            <a:spLocks noChangeArrowheads="1"/>
          </p:cNvSpPr>
          <p:nvPr/>
        </p:nvSpPr>
        <p:spPr bwMode="auto">
          <a:xfrm>
            <a:off x="4876800" y="4343400"/>
            <a:ext cx="4114800" cy="1190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" panose="02010609060101010101" pitchFamily="49" charset="-122"/>
                <a:cs typeface="+mn-cs"/>
              </a:rPr>
              <a:t>虽然（人们的人生）取舍千差万别，好静好动，也不相同，</a:t>
            </a: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但是，</a:t>
            </a:r>
            <a:r>
              <a:rPr kumimoji="1" lang="zh-CN" altLang="en-US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当他们对所接触的事物感到高兴时，对自己暂时得意</a:t>
            </a:r>
          </a:p>
        </p:txBody>
      </p:sp>
      <p:sp>
        <p:nvSpPr>
          <p:cNvPr id="73753" name="Text Box 25"/>
          <p:cNvSpPr txBox="1"/>
          <p:nvPr/>
        </p:nvSpPr>
        <p:spPr>
          <a:xfrm>
            <a:off x="1143000" y="228600"/>
            <a:ext cx="2895600" cy="376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发语词，表下面将发议论</a:t>
            </a:r>
          </a:p>
        </p:txBody>
      </p:sp>
      <p:sp>
        <p:nvSpPr>
          <p:cNvPr id="73755" name="Text Box 27"/>
          <p:cNvSpPr txBox="1"/>
          <p:nvPr/>
        </p:nvSpPr>
        <p:spPr>
          <a:xfrm>
            <a:off x="533400" y="2362200"/>
            <a:ext cx="1905000" cy="376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介词，通过</a:t>
            </a:r>
          </a:p>
        </p:txBody>
      </p:sp>
      <p:sp>
        <p:nvSpPr>
          <p:cNvPr id="73756" name="Text Box 28"/>
          <p:cNvSpPr txBox="1"/>
          <p:nvPr/>
        </p:nvSpPr>
        <p:spPr>
          <a:xfrm>
            <a:off x="990600" y="1905000"/>
            <a:ext cx="2362200" cy="376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古今异义：胸怀抱负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3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3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3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3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3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3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3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3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3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3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/>
      <p:bldP spid="73734" grpId="0"/>
      <p:bldP spid="73735" grpId="0"/>
      <p:bldP spid="73738" grpId="0" animBg="1"/>
      <p:bldP spid="73739" grpId="0" animBg="1"/>
      <p:bldP spid="73750" grpId="0" animBg="1"/>
      <p:bldP spid="73751" grpId="0"/>
      <p:bldP spid="73752" grpId="0"/>
      <p:bldP spid="73753" grpId="0" animBg="1"/>
      <p:bldP spid="73755" grpId="0" animBg="1"/>
      <p:bldP spid="7375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/>
          <p:nvPr/>
        </p:nvSpPr>
        <p:spPr>
          <a:xfrm>
            <a:off x="0" y="1143000"/>
            <a:ext cx="4876800" cy="47894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i="1" dirty="0">
                <a:latin typeface="华文新魏" pitchFamily="2" charset="-122"/>
                <a:ea typeface="华文新魏" pitchFamily="2" charset="-122"/>
              </a:rPr>
              <a:t>及其所之既倦，情随事迁，感慨系之矣！</a:t>
            </a:r>
          </a:p>
          <a:p>
            <a:endParaRPr lang="zh-CN" altLang="en-US" sz="2800" b="1" i="1" dirty="0">
              <a:solidFill>
                <a:srgbClr val="FF0000"/>
              </a:solidFill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sz="2800" b="1" i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向</a:t>
            </a:r>
            <a:r>
              <a:rPr lang="zh-CN" altLang="en-US" sz="2800" b="1" i="1" dirty="0">
                <a:latin typeface="华文新魏" pitchFamily="2" charset="-122"/>
                <a:ea typeface="华文新魏" pitchFamily="2" charset="-122"/>
              </a:rPr>
              <a:t>之</a:t>
            </a:r>
            <a:r>
              <a:rPr lang="zh-CN" altLang="en-US" sz="2800" b="1" i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所欣</a:t>
            </a:r>
            <a:r>
              <a:rPr lang="zh-CN" altLang="en-US" sz="2800" b="1" i="1" dirty="0">
                <a:latin typeface="华文新魏" pitchFamily="2" charset="-122"/>
                <a:ea typeface="华文新魏" pitchFamily="2" charset="-122"/>
              </a:rPr>
              <a:t>，俯仰之间，已为陈迹，犹不能不以之</a:t>
            </a:r>
            <a:r>
              <a:rPr lang="zh-CN" altLang="en-US" sz="2800" b="1" i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兴怀</a:t>
            </a:r>
            <a:r>
              <a:rPr lang="zh-CN" altLang="en-US" sz="2800" b="1" i="1" dirty="0">
                <a:latin typeface="华文新魏" pitchFamily="2" charset="-122"/>
                <a:ea typeface="华文新魏" pitchFamily="2" charset="-122"/>
              </a:rPr>
              <a:t>，</a:t>
            </a:r>
          </a:p>
          <a:p>
            <a:endParaRPr lang="zh-CN" altLang="en-US" sz="2800" b="1" i="1" dirty="0"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sz="2800" b="1" i="1" dirty="0">
                <a:latin typeface="华文新魏" pitchFamily="2" charset="-122"/>
                <a:ea typeface="华文新魏" pitchFamily="2" charset="-122"/>
              </a:rPr>
              <a:t>况修短随化，终</a:t>
            </a:r>
            <a:r>
              <a:rPr lang="zh-CN" altLang="en-US" sz="2800" b="1" i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期</a:t>
            </a:r>
            <a:r>
              <a:rPr lang="zh-CN" altLang="en-US" sz="2800" b="1" i="1" dirty="0">
                <a:latin typeface="华文新魏" pitchFamily="2" charset="-122"/>
                <a:ea typeface="华文新魏" pitchFamily="2" charset="-122"/>
              </a:rPr>
              <a:t>于尽！</a:t>
            </a:r>
          </a:p>
          <a:p>
            <a:endParaRPr lang="zh-CN" altLang="en-US" sz="2800" b="1" i="1" dirty="0">
              <a:latin typeface="华文新魏" pitchFamily="2" charset="-122"/>
              <a:ea typeface="华文新魏" pitchFamily="2" charset="-122"/>
            </a:endParaRPr>
          </a:p>
          <a:p>
            <a:endParaRPr lang="zh-CN" altLang="en-US" sz="2800" b="1" i="1" dirty="0"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sz="2800" b="1" i="1" dirty="0">
                <a:latin typeface="华文新魏" pitchFamily="2" charset="-122"/>
                <a:ea typeface="华文新魏" pitchFamily="2" charset="-122"/>
              </a:rPr>
              <a:t>古人云：</a:t>
            </a:r>
            <a:r>
              <a:rPr lang="zh-CN" altLang="en-US" sz="2800" b="1" i="1" dirty="0">
                <a:latin typeface="Arial" panose="020B0604020202020204" pitchFamily="34" charset="0"/>
                <a:ea typeface="华文新魏" pitchFamily="2" charset="-122"/>
              </a:rPr>
              <a:t>“</a:t>
            </a:r>
            <a:r>
              <a:rPr lang="zh-CN" altLang="en-US" sz="2800" b="1" i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死生亦大矣</a:t>
            </a:r>
            <a:r>
              <a:rPr lang="zh-CN" altLang="en-US" sz="2800" b="1" i="1" dirty="0">
                <a:latin typeface="Arial" panose="020B0604020202020204" pitchFamily="34" charset="0"/>
                <a:ea typeface="华文新魏" pitchFamily="2" charset="-122"/>
              </a:rPr>
              <a:t>”</a:t>
            </a:r>
            <a:r>
              <a:rPr lang="zh-CN" altLang="en-US" sz="2800" b="1" i="1" dirty="0">
                <a:latin typeface="华文新魏" pitchFamily="2" charset="-122"/>
                <a:ea typeface="华文新魏" pitchFamily="2" charset="-122"/>
              </a:rPr>
              <a:t>，岂不痛哉！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 </a:t>
            </a:r>
          </a:p>
        </p:txBody>
      </p:sp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1187450" y="6491288"/>
            <a:ext cx="720725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endParaRPr kumimoji="1" lang="zh-CN" altLang="zh-CN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华文行楷" pitchFamily="2" charset="-122"/>
              <a:cs typeface="+mn-cs"/>
            </a:endParaRPr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4876800" y="2590800"/>
            <a:ext cx="42672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以前感到欢快的事俯仰之间已经变为陈迹，仍然不能不因此产生感慨，</a:t>
            </a:r>
            <a:r>
              <a:rPr kumimoji="1" lang="zh-CN" altLang="en-US" kern="1200" cap="none" spc="0" normalizeH="0" baseline="0" noProof="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4800600" y="3733800"/>
            <a:ext cx="41148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何况人寿的长短随着造化而定，最后终将以生命的结束为最终结局。</a:t>
            </a:r>
            <a:r>
              <a:rPr kumimoji="1" lang="zh-CN" altLang="en-US" kern="1200" cap="none" spc="0" normalizeH="0" baseline="0" noProof="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27654" name="Text Box 7"/>
          <p:cNvSpPr txBox="1"/>
          <p:nvPr/>
        </p:nvSpPr>
        <p:spPr>
          <a:xfrm>
            <a:off x="0" y="0"/>
            <a:ext cx="990600" cy="37623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第二段</a:t>
            </a:r>
          </a:p>
        </p:txBody>
      </p:sp>
      <p:sp>
        <p:nvSpPr>
          <p:cNvPr id="107528" name="Text Box 8"/>
          <p:cNvSpPr txBox="1"/>
          <p:nvPr/>
        </p:nvSpPr>
        <p:spPr>
          <a:xfrm>
            <a:off x="1143000" y="5486400"/>
            <a:ext cx="2438400" cy="376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大，形作名，大事</a:t>
            </a:r>
          </a:p>
        </p:txBody>
      </p:sp>
      <p:sp>
        <p:nvSpPr>
          <p:cNvPr id="107529" name="Text Box 9"/>
          <p:cNvSpPr txBox="1"/>
          <p:nvPr/>
        </p:nvSpPr>
        <p:spPr>
          <a:xfrm>
            <a:off x="3962400" y="5486400"/>
            <a:ext cx="762000" cy="376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怎么</a:t>
            </a:r>
          </a:p>
        </p:txBody>
      </p:sp>
      <p:sp>
        <p:nvSpPr>
          <p:cNvPr id="107530" name="Text Box 10"/>
          <p:cNvSpPr txBox="1"/>
          <p:nvPr/>
        </p:nvSpPr>
        <p:spPr>
          <a:xfrm>
            <a:off x="1905000" y="4191000"/>
            <a:ext cx="2286000" cy="376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以</a:t>
            </a:r>
            <a:r>
              <a:rPr lang="en-US" altLang="zh-CN" dirty="0">
                <a:latin typeface="Arial" panose="020B0604020202020204" pitchFamily="34" charset="0"/>
              </a:rPr>
              <a:t>……</a:t>
            </a:r>
            <a:r>
              <a:rPr lang="zh-CN" altLang="en-US" dirty="0">
                <a:latin typeface="Arial" panose="020B0604020202020204" pitchFamily="34" charset="0"/>
              </a:rPr>
              <a:t>为最终结局 </a:t>
            </a:r>
          </a:p>
        </p:txBody>
      </p:sp>
      <p:sp>
        <p:nvSpPr>
          <p:cNvPr id="107531" name="Text Box 11"/>
          <p:cNvSpPr txBox="1">
            <a:spLocks noChangeArrowheads="1"/>
          </p:cNvSpPr>
          <p:nvPr/>
        </p:nvSpPr>
        <p:spPr bwMode="auto">
          <a:xfrm>
            <a:off x="4953000" y="1219200"/>
            <a:ext cx="4191000" cy="915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待到他对于自己所到达的地方感到厌倦，心情随着当前的境况而变化，感慨就会随之而来。</a:t>
            </a:r>
            <a:r>
              <a:rPr kumimoji="1" lang="zh-CN" altLang="en-US" kern="1200" cap="none" spc="0" normalizeH="0" baseline="0" noProof="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107532" name="Text Box 12"/>
          <p:cNvSpPr txBox="1">
            <a:spLocks noChangeArrowheads="1"/>
          </p:cNvSpPr>
          <p:nvPr/>
        </p:nvSpPr>
        <p:spPr bwMode="auto">
          <a:xfrm>
            <a:off x="4876800" y="5257800"/>
            <a:ext cx="41148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古人说：“</a:t>
            </a:r>
            <a:r>
              <a:rPr kumimoji="1" lang="zh-CN" altLang="en-US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死和生也是件大事啊！</a:t>
            </a: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”怎能不悲痛呢？</a:t>
            </a:r>
            <a:r>
              <a:rPr kumimoji="1" lang="zh-CN" altLang="en-US" kern="1200" cap="none" spc="0" normalizeH="0" baseline="0" noProof="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</a:t>
            </a:r>
          </a:p>
        </p:txBody>
      </p:sp>
      <p:sp>
        <p:nvSpPr>
          <p:cNvPr id="107534" name="Text Box 14"/>
          <p:cNvSpPr txBox="1"/>
          <p:nvPr/>
        </p:nvSpPr>
        <p:spPr>
          <a:xfrm>
            <a:off x="152400" y="2133600"/>
            <a:ext cx="2819400" cy="376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古：以前  今：方向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4" grpId="0"/>
      <p:bldP spid="107525" grpId="0"/>
      <p:bldP spid="107528" grpId="0" animBg="1"/>
      <p:bldP spid="107529" grpId="0" animBg="1"/>
      <p:bldP spid="107530" grpId="0" animBg="1"/>
      <p:bldP spid="107531" grpId="0"/>
      <p:bldP spid="107532" grpId="0"/>
      <p:bldP spid="10753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/>
          <p:cNvSpPr txBox="1"/>
          <p:nvPr/>
        </p:nvSpPr>
        <p:spPr>
          <a:xfrm>
            <a:off x="838200" y="608013"/>
            <a:ext cx="6858000" cy="11906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Times New Roman" panose="02020603050405020304" pitchFamily="18" charset="0"/>
              </a:rPr>
              <a:t>在第二自然段中，作者的思绪和心境有了怎样的变迁？</a:t>
            </a:r>
          </a:p>
        </p:txBody>
      </p:sp>
      <p:pic>
        <p:nvPicPr>
          <p:cNvPr id="93187" name="Picture 3" descr="ec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4038600"/>
            <a:ext cx="3124200" cy="2530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3188" name="AutoShape 4"/>
          <p:cNvSpPr/>
          <p:nvPr/>
        </p:nvSpPr>
        <p:spPr>
          <a:xfrm>
            <a:off x="2819400" y="2971800"/>
            <a:ext cx="990600" cy="152400"/>
          </a:xfrm>
          <a:prstGeom prst="rightArrow">
            <a:avLst>
              <a:gd name="adj1" fmla="val 50000"/>
              <a:gd name="adj2" fmla="val 162500"/>
            </a:avLst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93189" name="Text Box 5"/>
          <p:cNvSpPr txBox="1"/>
          <p:nvPr/>
        </p:nvSpPr>
        <p:spPr>
          <a:xfrm>
            <a:off x="2268538" y="2276475"/>
            <a:ext cx="2120900" cy="579438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（联想）</a:t>
            </a:r>
          </a:p>
        </p:txBody>
      </p:sp>
      <p:sp>
        <p:nvSpPr>
          <p:cNvPr id="93190" name="Text Box 6"/>
          <p:cNvSpPr txBox="1"/>
          <p:nvPr/>
        </p:nvSpPr>
        <p:spPr>
          <a:xfrm>
            <a:off x="3886200" y="2651125"/>
            <a:ext cx="4191000" cy="6413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Times New Roman" panose="02020603050405020304" pitchFamily="18" charset="0"/>
              </a:rPr>
              <a:t>岂不痛哉</a:t>
            </a:r>
          </a:p>
        </p:txBody>
      </p:sp>
      <p:sp>
        <p:nvSpPr>
          <p:cNvPr id="28679" name="Rectangle 7"/>
          <p:cNvSpPr/>
          <p:nvPr/>
        </p:nvSpPr>
        <p:spPr>
          <a:xfrm>
            <a:off x="4494213" y="2152650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93192" name="Text Box 8"/>
          <p:cNvSpPr txBox="1"/>
          <p:nvPr/>
        </p:nvSpPr>
        <p:spPr>
          <a:xfrm>
            <a:off x="468313" y="2681288"/>
            <a:ext cx="2351087" cy="579437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相聚的欢乐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3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/>
      <p:bldP spid="93188" grpId="0" animBg="1"/>
      <p:bldP spid="93189" grpId="0"/>
      <p:bldP spid="93190" grpId="0"/>
      <p:bldP spid="9319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/>
          <p:nvPr/>
        </p:nvSpPr>
        <p:spPr>
          <a:xfrm>
            <a:off x="990600" y="838200"/>
            <a:ext cx="4419600" cy="1189038"/>
          </a:xfrm>
          <a:prstGeom prst="rect">
            <a:avLst/>
          </a:prstGeom>
          <a:solidFill>
            <a:srgbClr val="000000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72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岂不痛哉</a:t>
            </a:r>
            <a:r>
              <a:rPr lang="en-US" altLang="zh-CN" sz="72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!</a:t>
            </a:r>
          </a:p>
        </p:txBody>
      </p:sp>
      <p:sp>
        <p:nvSpPr>
          <p:cNvPr id="29699" name="WordArt 3"/>
          <p:cNvSpPr>
            <a:spLocks noTextEdit="1"/>
          </p:cNvSpPr>
          <p:nvPr/>
        </p:nvSpPr>
        <p:spPr>
          <a:xfrm>
            <a:off x="685800" y="2362200"/>
            <a:ext cx="7924800" cy="3581400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9264"/>
                <a:gd name="adj2" fmla="val -6870"/>
              </a:avLst>
            </a:prstTxWarp>
            <a:normAutofit/>
          </a:bodyPr>
          <a:lstStyle/>
          <a:p>
            <a:pPr algn="ctr" eaLnBrk="0" hangingPunct="0"/>
            <a:r>
              <a:rPr lang="zh-CN" altLang="en-US" sz="4800" b="1" spc="-480">
                <a:ln w="127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0000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latin typeface="华文彩云" charset="0"/>
                <a:ea typeface="华文彩云" charset="0"/>
              </a:rPr>
              <a:t>痛什么 ？！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4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4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4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4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20043717433119409"/>
          <p:cNvPicPr>
            <a:picLocks noChangeAspect="1"/>
          </p:cNvPicPr>
          <p:nvPr/>
        </p:nvPicPr>
        <p:blipFill>
          <a:blip r:embed="rId2">
            <a:clrChange>
              <a:clrFrom>
                <a:srgbClr val="F1EDE1"/>
              </a:clrFrom>
              <a:clrTo>
                <a:srgbClr val="F1EDE1">
                  <a:alpha val="0"/>
                </a:srgbClr>
              </a:clrTo>
            </a:clrChange>
          </a:blip>
          <a:srcRect t="53473" r="42088"/>
          <a:stretch>
            <a:fillRect/>
          </a:stretch>
        </p:blipFill>
        <p:spPr>
          <a:xfrm>
            <a:off x="5038725" y="5589588"/>
            <a:ext cx="4105275" cy="1268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152400" y="152400"/>
            <a:ext cx="8280400" cy="61610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zh-CN" altLang="en-US" sz="3600" b="1" kern="1200" cap="none" spc="0" normalizeH="0" baseline="0" noProof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itchFamily="2" charset="-122"/>
                <a:cs typeface="+mn-cs"/>
              </a:rPr>
              <a:t>理清第二段思路：</a:t>
            </a:r>
            <a:r>
              <a:rPr kumimoji="0" lang="zh-CN" altLang="en-US" sz="32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迷你简硬笔楷书" pitchFamily="65" charset="-122"/>
                <a:cs typeface="+mn-cs"/>
              </a:rPr>
              <a:t> </a:t>
            </a:r>
            <a:r>
              <a:rPr kumimoji="0" lang="zh-CN" altLang="en-US" sz="2800" b="1" kern="1200" cap="none" spc="0" normalizeH="0" baseline="0" noProof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由兰亭集会联想到现</a:t>
            </a:r>
            <a:r>
              <a:rPr kumimoji="0" lang="zh-CN" altLang="en-US" sz="28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今</a:t>
            </a:r>
            <a:r>
              <a:rPr kumimoji="0" lang="zh-CN" altLang="en-US" sz="2800" b="1" kern="1200" cap="none" spc="0" normalizeH="0" baseline="0" noProof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人们的相处往来，即便为人处世方法各异，静躁不同，但从中提示了人生</a:t>
            </a:r>
            <a:r>
              <a:rPr kumimoji="0" lang="zh-CN" altLang="en-US" sz="28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忧患</a:t>
            </a:r>
            <a:r>
              <a:rPr kumimoji="0" lang="zh-CN" altLang="en-US" sz="2800" b="1" kern="1200" cap="none" spc="0" normalizeH="0" baseline="0" noProof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的来源。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zh-CN" altLang="en-US" sz="2800" b="1" kern="1200" cap="none" spc="0" normalizeH="0" baseline="0" noProof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首先来自</a:t>
            </a:r>
            <a:r>
              <a:rPr kumimoji="0" lang="zh-CN" altLang="en-US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永不满足的内在欲望</a:t>
            </a:r>
            <a:r>
              <a:rPr kumimoji="0" lang="zh-CN" altLang="en-US" sz="2800" b="1" kern="1200" cap="none" spc="0" normalizeH="0" baseline="0" noProof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，“欣于所遇”便“快然自足”，及其“所之既倦”“感慨系之矣”。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zh-CN" altLang="en-US" sz="2800" b="1" kern="1200" cap="none" spc="0" normalizeH="0" baseline="0" noProof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其次来自</a:t>
            </a:r>
            <a:r>
              <a:rPr kumimoji="0" lang="zh-CN" altLang="en-US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外在世界的流转不定，难以依持</a:t>
            </a:r>
            <a:r>
              <a:rPr kumimoji="0" lang="zh-CN" altLang="en-US" sz="2800" b="1" kern="1200" cap="none" spc="0" normalizeH="0" baseline="0" noProof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，即“向之所欣，俯仰之间，已为陈迹”。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zh-CN" altLang="en-US" sz="2400" b="1" kern="1200" cap="none" spc="0" normalizeH="0" baseline="0" noProof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第三来自</a:t>
            </a:r>
            <a:r>
              <a:rPr kumimoji="0" lang="zh-CN" altLang="en-US" sz="24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个体生命的短暂有限</a:t>
            </a:r>
            <a:r>
              <a:rPr kumimoji="0" lang="zh-CN" altLang="en-US" sz="2400" b="1" kern="1200" cap="none" spc="0" normalizeH="0" baseline="0" noProof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，即“修短随化，终期于尽”。最后以“死生亦大矣，岂不痛哉？”作结。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endParaRPr kumimoji="0" lang="zh-CN" altLang="en-US" sz="2400" b="1" kern="1200" cap="none" spc="0" normalizeH="0" baseline="0" noProof="0" smtClean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zh-CN" altLang="en-US" sz="2800" b="1" kern="1200" cap="none" spc="0" normalizeH="0" baseline="0" noProof="0" smtClean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痛：对快乐人生的贪恋不满足、对乐境易逝的眷恋、对生命的短促无奈与伤感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/>
          <p:nvPr/>
        </p:nvSpPr>
        <p:spPr>
          <a:xfrm>
            <a:off x="0" y="838200"/>
            <a:ext cx="4876800" cy="47894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每览昔人兴感之由，若合一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契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</a:t>
            </a:r>
          </a:p>
          <a:p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未尝不临文嗟悼，不能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喻之于怀。</a:t>
            </a:r>
          </a:p>
          <a:p>
            <a:endParaRPr lang="zh-CN" altLang="en-US" sz="28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固知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一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死生为虚诞，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齐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彭殇为妄作，</a:t>
            </a:r>
          </a:p>
          <a:p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后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之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视今，亦犹今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之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视昔，悲夫！</a:t>
            </a: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1187450" y="6491288"/>
            <a:ext cx="720725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endParaRPr kumimoji="1" lang="zh-CN" altLang="zh-CN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华文行楷" pitchFamily="2" charset="-122"/>
              <a:cs typeface="+mn-cs"/>
            </a:endParaRPr>
          </a:p>
        </p:txBody>
      </p:sp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4800600" y="2209800"/>
            <a:ext cx="43434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未曾不面对着（他们的）文章而嗟叹感伤的，</a:t>
            </a:r>
            <a:r>
              <a:rPr kumimoji="1" lang="zh-CN" altLang="en-US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在心里（又）不能清楚地说明。</a:t>
            </a:r>
            <a:r>
              <a:rPr kumimoji="1" lang="zh-CN" altLang="en-US" kern="1200" cap="none" spc="0" normalizeH="0" baseline="0" noProof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4876800" y="3505200"/>
            <a:ext cx="4114800" cy="915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（我）本来就知道，</a:t>
            </a:r>
            <a:r>
              <a:rPr kumimoji="1" lang="zh-CN" altLang="en-US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把</a:t>
            </a: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生和死</a:t>
            </a:r>
            <a:r>
              <a:rPr kumimoji="1" lang="zh-CN" altLang="en-US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同等看待</a:t>
            </a: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是荒诞的，</a:t>
            </a:r>
            <a:r>
              <a:rPr kumimoji="1" lang="zh-CN" altLang="en-US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把</a:t>
            </a: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长寿和短命</a:t>
            </a:r>
            <a:r>
              <a:rPr kumimoji="1" lang="zh-CN" altLang="en-US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同等看待</a:t>
            </a: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是妄造的。 </a:t>
            </a:r>
          </a:p>
        </p:txBody>
      </p:sp>
      <p:sp>
        <p:nvSpPr>
          <p:cNvPr id="31750" name="Text Box 7"/>
          <p:cNvSpPr txBox="1"/>
          <p:nvPr/>
        </p:nvSpPr>
        <p:spPr>
          <a:xfrm>
            <a:off x="0" y="0"/>
            <a:ext cx="990600" cy="37623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第三段</a:t>
            </a:r>
          </a:p>
        </p:txBody>
      </p:sp>
      <p:sp>
        <p:nvSpPr>
          <p:cNvPr id="109577" name="Text Box 9"/>
          <p:cNvSpPr txBox="1"/>
          <p:nvPr/>
        </p:nvSpPr>
        <p:spPr>
          <a:xfrm>
            <a:off x="685800" y="5334000"/>
            <a:ext cx="4038600" cy="376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：“之”：主谓之间的结构助词，取独。 </a:t>
            </a:r>
          </a:p>
        </p:txBody>
      </p:sp>
      <p:sp>
        <p:nvSpPr>
          <p:cNvPr id="109578" name="Text Box 10"/>
          <p:cNvSpPr txBox="1"/>
          <p:nvPr/>
        </p:nvSpPr>
        <p:spPr>
          <a:xfrm>
            <a:off x="3048000" y="2667000"/>
            <a:ext cx="1524000" cy="376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状语后置句</a:t>
            </a:r>
          </a:p>
        </p:txBody>
      </p:sp>
      <p:sp>
        <p:nvSpPr>
          <p:cNvPr id="109579" name="Text Box 11"/>
          <p:cNvSpPr txBox="1">
            <a:spLocks noChangeArrowheads="1"/>
          </p:cNvSpPr>
          <p:nvPr/>
        </p:nvSpPr>
        <p:spPr bwMode="auto">
          <a:xfrm>
            <a:off x="4800600" y="914400"/>
            <a:ext cx="41148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每当我看到前人发生感慨的原由，（跟我所感慨的）如同符契那样相合，</a:t>
            </a:r>
            <a:r>
              <a:rPr kumimoji="1" lang="zh-CN" altLang="en-US" kern="1200" cap="none" spc="0" normalizeH="0" baseline="0" noProof="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109580" name="Text Box 12"/>
          <p:cNvSpPr txBox="1">
            <a:spLocks noChangeArrowheads="1"/>
          </p:cNvSpPr>
          <p:nvPr/>
        </p:nvSpPr>
        <p:spPr bwMode="auto">
          <a:xfrm>
            <a:off x="4876800" y="4876800"/>
            <a:ext cx="41148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后人看待今天，也像今人看待从前一样，真是可悲啊！</a:t>
            </a:r>
            <a:r>
              <a:rPr kumimoji="1" lang="zh-CN" altLang="en-US" kern="1200" cap="none" spc="0" normalizeH="0" baseline="0" noProof="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109581" name="Text Box 13"/>
          <p:cNvSpPr txBox="1"/>
          <p:nvPr/>
        </p:nvSpPr>
        <p:spPr>
          <a:xfrm>
            <a:off x="533400" y="228600"/>
            <a:ext cx="4724400" cy="6508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zh-CN" altLang="en-US" dirty="0">
                <a:latin typeface="Arial" panose="020B0604020202020204" pitchFamily="34" charset="0"/>
              </a:rPr>
              <a:t>合契”：古代的契分为两半，各执其一，相合为信。“ </a:t>
            </a:r>
          </a:p>
        </p:txBody>
      </p:sp>
      <p:sp>
        <p:nvSpPr>
          <p:cNvPr id="109582" name="Text Box 14"/>
          <p:cNvSpPr txBox="1"/>
          <p:nvPr/>
        </p:nvSpPr>
        <p:spPr>
          <a:xfrm>
            <a:off x="1066800" y="4038600"/>
            <a:ext cx="3733800" cy="376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意动用法，意为“把</a:t>
            </a:r>
            <a:r>
              <a:rPr lang="en-US" altLang="zh-CN" dirty="0">
                <a:latin typeface="Arial" panose="020B0604020202020204" pitchFamily="34" charset="0"/>
              </a:rPr>
              <a:t>……</a:t>
            </a:r>
            <a:r>
              <a:rPr lang="zh-CN" altLang="en-US" dirty="0">
                <a:latin typeface="Arial" panose="020B0604020202020204" pitchFamily="34" charset="0"/>
              </a:rPr>
              <a:t>看作一样”。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9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9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2" grpId="0"/>
      <p:bldP spid="109573" grpId="0"/>
      <p:bldP spid="109577" grpId="0" animBg="1"/>
      <p:bldP spid="109578" grpId="0" animBg="1"/>
      <p:bldP spid="109579" grpId="0"/>
      <p:bldP spid="109580" grpId="0"/>
      <p:bldP spid="109581" grpId="0" animBg="1"/>
      <p:bldP spid="10958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/>
          <p:nvPr/>
        </p:nvSpPr>
        <p:spPr>
          <a:xfrm>
            <a:off x="0" y="1295400"/>
            <a:ext cx="4876800" cy="265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故列叙时人，录其所述，</a:t>
            </a:r>
          </a:p>
          <a:p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虽世殊事异，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所以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兴怀，其致一也。</a:t>
            </a:r>
          </a:p>
          <a:p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后之览者，亦将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有感于斯文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110595" name="Text Box 3"/>
          <p:cNvSpPr txBox="1">
            <a:spLocks noChangeArrowheads="1"/>
          </p:cNvSpPr>
          <p:nvPr/>
        </p:nvSpPr>
        <p:spPr bwMode="auto">
          <a:xfrm>
            <a:off x="1187450" y="6491288"/>
            <a:ext cx="720725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endParaRPr kumimoji="1" lang="zh-CN" altLang="zh-CN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华文行楷" pitchFamily="2" charset="-122"/>
              <a:cs typeface="+mn-cs"/>
            </a:endParaRPr>
          </a:p>
        </p:txBody>
      </p:sp>
      <p:sp>
        <p:nvSpPr>
          <p:cNvPr id="110596" name="Text Box 4"/>
          <p:cNvSpPr txBox="1">
            <a:spLocks noChangeArrowheads="1"/>
          </p:cNvSpPr>
          <p:nvPr/>
        </p:nvSpPr>
        <p:spPr bwMode="auto">
          <a:xfrm>
            <a:off x="4800600" y="2362200"/>
            <a:ext cx="43434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即使时代不同情况不同，但人们的情致却是一样的。 </a:t>
            </a:r>
          </a:p>
        </p:txBody>
      </p:sp>
      <p:sp>
        <p:nvSpPr>
          <p:cNvPr id="110597" name="Text Box 5"/>
          <p:cNvSpPr txBox="1">
            <a:spLocks noChangeArrowheads="1"/>
          </p:cNvSpPr>
          <p:nvPr/>
        </p:nvSpPr>
        <p:spPr bwMode="auto">
          <a:xfrm>
            <a:off x="4876800" y="3657600"/>
            <a:ext cx="41148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后代的读者，也将</a:t>
            </a:r>
            <a:r>
              <a:rPr kumimoji="1" lang="zh-CN" altLang="en-US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对于这篇文章有所感触吧！</a:t>
            </a:r>
            <a:endParaRPr kumimoji="1" lang="zh-CN" altLang="en-US" kern="1200" cap="none" spc="0" normalizeH="0" baseline="0" noProof="0" smtClean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4" name="Text Box 6"/>
          <p:cNvSpPr txBox="1"/>
          <p:nvPr/>
        </p:nvSpPr>
        <p:spPr>
          <a:xfrm>
            <a:off x="0" y="0"/>
            <a:ext cx="990600" cy="37623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第三段</a:t>
            </a:r>
          </a:p>
        </p:txBody>
      </p:sp>
      <p:sp>
        <p:nvSpPr>
          <p:cNvPr id="110599" name="Text Box 7"/>
          <p:cNvSpPr txBox="1"/>
          <p:nvPr/>
        </p:nvSpPr>
        <p:spPr>
          <a:xfrm>
            <a:off x="1600200" y="4038600"/>
            <a:ext cx="3048000" cy="6508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古义：这篇文章。　　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今义：文雅；文化或文人。 </a:t>
            </a:r>
          </a:p>
        </p:txBody>
      </p:sp>
      <p:sp>
        <p:nvSpPr>
          <p:cNvPr id="110600" name="Text Box 8"/>
          <p:cNvSpPr txBox="1"/>
          <p:nvPr/>
        </p:nvSpPr>
        <p:spPr>
          <a:xfrm>
            <a:off x="1981200" y="1828800"/>
            <a:ext cx="1524000" cy="376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……</a:t>
            </a:r>
            <a:r>
              <a:rPr lang="zh-CN" altLang="en-US" dirty="0">
                <a:latin typeface="Arial" panose="020B0604020202020204" pitchFamily="34" charset="0"/>
              </a:rPr>
              <a:t>的原因</a:t>
            </a:r>
          </a:p>
        </p:txBody>
      </p:sp>
      <p:sp>
        <p:nvSpPr>
          <p:cNvPr id="110601" name="Text Box 9"/>
          <p:cNvSpPr txBox="1">
            <a:spLocks noChangeArrowheads="1"/>
          </p:cNvSpPr>
          <p:nvPr/>
        </p:nvSpPr>
        <p:spPr bwMode="auto">
          <a:xfrm>
            <a:off x="4876800" y="1371600"/>
            <a:ext cx="41148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因此我一一记下参加这次聚会的人，抄录了他们的诗作。</a:t>
            </a:r>
            <a:r>
              <a:rPr kumimoji="1" lang="zh-CN" altLang="en-US" kern="1200" cap="none" spc="0" normalizeH="0" baseline="0" noProof="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/>
      <p:bldP spid="110597" grpId="0"/>
      <p:bldP spid="110599" grpId="0" animBg="1"/>
      <p:bldP spid="110600" grpId="0" animBg="1"/>
      <p:bldP spid="11060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WordArt 2"/>
          <p:cNvSpPr>
            <a:spLocks noChangeArrowheads="1" noChangeShapeType="1" noTextEdit="1"/>
          </p:cNvSpPr>
          <p:nvPr/>
        </p:nvSpPr>
        <p:spPr bwMode="auto">
          <a:xfrm>
            <a:off x="1219200" y="3429000"/>
            <a:ext cx="7162800" cy="2743200"/>
          </a:xfrm>
          <a:prstGeom prst="rect">
            <a:avLst/>
          </a:prstGeom>
        </p:spPr>
        <p:txBody>
          <a:bodyPr wrap="none" numCol="1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0" cap="none" spc="-360" normalizeH="0" baseline="0" noProof="0" smtClean="0">
                <a:ln w="12700">
                  <a:solidFill>
                    <a:srgbClr val="FF0000"/>
                  </a:solidFill>
                  <a:rou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uLnTx/>
                <a:uFillTx/>
                <a:latin typeface="华文行楷"/>
                <a:ea typeface="华文行楷"/>
                <a:cs typeface="+mn-cs"/>
              </a:rPr>
              <a:t>"</a:t>
            </a:r>
            <a:r>
              <a:rPr kumimoji="0" lang="zh-CN" altLang="en-US" sz="3600" b="1" i="0" u="none" strike="noStrike" kern="10" cap="none" spc="-360" normalizeH="0" baseline="0" noProof="0" smtClean="0">
                <a:ln w="12700">
                  <a:solidFill>
                    <a:srgbClr val="FF0000"/>
                  </a:solidFill>
                  <a:rou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uLnTx/>
                <a:uFillTx/>
                <a:latin typeface="华文行楷"/>
                <a:ea typeface="华文行楷"/>
                <a:cs typeface="+mn-cs"/>
              </a:rPr>
              <a:t>悲</a:t>
            </a:r>
            <a:r>
              <a:rPr kumimoji="0" lang="en-US" altLang="zh-CN" sz="3600" b="1" i="0" u="none" strike="noStrike" kern="10" cap="none" spc="-360" normalizeH="0" baseline="0" noProof="0" smtClean="0">
                <a:ln w="12700">
                  <a:solidFill>
                    <a:srgbClr val="FF0000"/>
                  </a:solidFill>
                  <a:rou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uLnTx/>
                <a:uFillTx/>
                <a:latin typeface="华文行楷"/>
                <a:ea typeface="华文行楷"/>
                <a:cs typeface="+mn-cs"/>
              </a:rPr>
              <a:t>"</a:t>
            </a:r>
            <a:r>
              <a:rPr kumimoji="0" lang="zh-CN" altLang="en-US" sz="3600" b="1" i="0" u="none" strike="noStrike" kern="10" cap="none" spc="-360" normalizeH="0" baseline="0" noProof="0" smtClean="0">
                <a:ln w="12700">
                  <a:solidFill>
                    <a:srgbClr val="FF0000"/>
                  </a:solidFill>
                  <a:rou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uLnTx/>
                <a:uFillTx/>
                <a:latin typeface="华文行楷"/>
                <a:ea typeface="华文行楷"/>
                <a:cs typeface="+mn-cs"/>
              </a:rPr>
              <a:t>什么？ </a:t>
            </a:r>
          </a:p>
        </p:txBody>
      </p:sp>
      <p:sp>
        <p:nvSpPr>
          <p:cNvPr id="33795" name="WordArt 3"/>
          <p:cNvSpPr/>
          <p:nvPr/>
        </p:nvSpPr>
        <p:spPr>
          <a:xfrm>
            <a:off x="1447800" y="838200"/>
            <a:ext cx="6019800" cy="1828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3671"/>
              </a:avLst>
            </a:prstTxWarp>
            <a:normAutofit/>
          </a:bodyPr>
          <a:lstStyle/>
          <a:p>
            <a:pPr algn="ctr" eaLnBrk="0" hangingPunct="0"/>
            <a:r>
              <a:rPr lang="zh-CN" altLang="en-US" sz="6600" b="1">
                <a:ln w="127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  <a:gradFill rotWithShape="1">
                  <a:gsLst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  <a:tileRect/>
                </a:gradFill>
                <a:effectLst>
                  <a:outerShdw dist="35921" dir="2699999" sy="50000" kx="2115830" algn="bl" rotWithShape="0">
                    <a:srgbClr val="C0C0C0"/>
                  </a:outerShdw>
                </a:effectLst>
                <a:latin typeface="华文行楷" charset="0"/>
                <a:ea typeface="华文行楷" charset="0"/>
              </a:rPr>
              <a:t>悲夫！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/>
          <p:nvPr/>
        </p:nvSpPr>
        <p:spPr>
          <a:xfrm>
            <a:off x="611188" y="2781300"/>
            <a:ext cx="1295400" cy="1555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悲夫</a:t>
            </a:r>
          </a:p>
        </p:txBody>
      </p:sp>
      <p:sp>
        <p:nvSpPr>
          <p:cNvPr id="99331" name="Text Box 3"/>
          <p:cNvSpPr txBox="1">
            <a:spLocks noChangeArrowheads="1"/>
          </p:cNvSpPr>
          <p:nvPr/>
        </p:nvSpPr>
        <p:spPr bwMode="auto">
          <a:xfrm>
            <a:off x="2051050" y="1470025"/>
            <a:ext cx="450215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兴感之由     若合一契</a:t>
            </a:r>
          </a:p>
        </p:txBody>
      </p:sp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1906588" y="2909888"/>
            <a:ext cx="443865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临文嗟悼     不能喻之于怀</a:t>
            </a:r>
          </a:p>
        </p:txBody>
      </p:sp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1762125" y="4205288"/>
            <a:ext cx="508952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一死生为虚诞  齐彭殇为妄作</a:t>
            </a:r>
          </a:p>
        </p:txBody>
      </p:sp>
      <p:sp>
        <p:nvSpPr>
          <p:cNvPr id="99334" name="Text Box 6"/>
          <p:cNvSpPr txBox="1">
            <a:spLocks noChangeArrowheads="1"/>
          </p:cNvSpPr>
          <p:nvPr/>
        </p:nvSpPr>
        <p:spPr bwMode="auto">
          <a:xfrm>
            <a:off x="1928813" y="5502275"/>
            <a:ext cx="422592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后之视今     亦由今之视昔</a:t>
            </a:r>
          </a:p>
        </p:txBody>
      </p:sp>
      <p:sp>
        <p:nvSpPr>
          <p:cNvPr id="34823" name="AutoShape 7"/>
          <p:cNvSpPr/>
          <p:nvPr/>
        </p:nvSpPr>
        <p:spPr>
          <a:xfrm>
            <a:off x="1403350" y="1844675"/>
            <a:ext cx="287338" cy="3625850"/>
          </a:xfrm>
          <a:prstGeom prst="leftBrace">
            <a:avLst>
              <a:gd name="adj1" fmla="val 105156"/>
              <a:gd name="adj2" fmla="val 50000"/>
            </a:avLst>
          </a:prstGeom>
          <a:noFill/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vert="eaVert"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824" name="AutoShape 8"/>
          <p:cNvSpPr/>
          <p:nvPr/>
        </p:nvSpPr>
        <p:spPr>
          <a:xfrm>
            <a:off x="3635375" y="2349500"/>
            <a:ext cx="360363" cy="384175"/>
          </a:xfrm>
          <a:prstGeom prst="downArrow">
            <a:avLst>
              <a:gd name="adj1" fmla="val 50000"/>
              <a:gd name="adj2" fmla="val 26651"/>
            </a:avLst>
          </a:prstGeom>
          <a:solidFill>
            <a:schemeClr val="bg1"/>
          </a:solidFill>
          <a:ln w="57150" cap="flat" cmpd="thinThick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825" name="AutoShape 9"/>
          <p:cNvSpPr/>
          <p:nvPr/>
        </p:nvSpPr>
        <p:spPr>
          <a:xfrm>
            <a:off x="3633788" y="3644900"/>
            <a:ext cx="361950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bg1"/>
          </a:solidFill>
          <a:ln w="57150" cap="flat" cmpd="thinThick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826" name="AutoShape 10"/>
          <p:cNvSpPr/>
          <p:nvPr/>
        </p:nvSpPr>
        <p:spPr>
          <a:xfrm>
            <a:off x="3635375" y="4941888"/>
            <a:ext cx="361950" cy="431800"/>
          </a:xfrm>
          <a:prstGeom prst="downArrow">
            <a:avLst>
              <a:gd name="adj1" fmla="val 50000"/>
              <a:gd name="adj2" fmla="val 29824"/>
            </a:avLst>
          </a:prstGeom>
          <a:solidFill>
            <a:schemeClr val="bg1"/>
          </a:solidFill>
          <a:ln w="57150" cap="flat" cmpd="thinThick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9339" name="Text Box 11"/>
          <p:cNvSpPr txBox="1">
            <a:spLocks noChangeArrowheads="1"/>
          </p:cNvSpPr>
          <p:nvPr/>
        </p:nvSpPr>
        <p:spPr bwMode="auto">
          <a:xfrm>
            <a:off x="6659563" y="2205038"/>
            <a:ext cx="2232025" cy="2832100"/>
          </a:xfrm>
          <a:prstGeom prst="rect">
            <a:avLst/>
          </a:prstGeom>
          <a:noFill/>
          <a:ln w="57150" cmpd="thinThick">
            <a:solidFill>
              <a:srgbClr val="FF6600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zh-CN" altLang="en-US" sz="3200" b="1" kern="1200" cap="none" spc="0" normalizeH="0" baseline="0" noProof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以今及古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zh-CN" altLang="en-US" sz="3200" b="1" kern="1200" cap="none" spc="0" normalizeH="0" baseline="0" noProof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以今推来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zh-CN" altLang="en-US" sz="3200" b="1" kern="1200" cap="none" spc="0" normalizeH="0" baseline="0" noProof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沧桑感、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zh-CN" altLang="en-US" sz="3200" b="1" kern="1200" cap="none" spc="0" normalizeH="0" baseline="0" noProof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厚重感</a:t>
            </a:r>
          </a:p>
        </p:txBody>
      </p:sp>
      <p:sp>
        <p:nvSpPr>
          <p:cNvPr id="34828" name="Text Box 12"/>
          <p:cNvSpPr txBox="1"/>
          <p:nvPr/>
        </p:nvSpPr>
        <p:spPr>
          <a:xfrm>
            <a:off x="1527175" y="692150"/>
            <a:ext cx="4557713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latin typeface="Times New Roman" panose="02020603050405020304" pitchFamily="18" charset="0"/>
              </a:rPr>
              <a:t>理清思路：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2"/>
          <p:cNvSpPr txBox="1"/>
          <p:nvPr/>
        </p:nvSpPr>
        <p:spPr>
          <a:xfrm>
            <a:off x="838200" y="898525"/>
            <a:ext cx="7467600" cy="1554163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结尾部分从“临文嗟悼”说到“一死生为虚诞，齐彭殇为妄作”，表达了作者怎样的思想感情？</a:t>
            </a:r>
          </a:p>
        </p:txBody>
      </p:sp>
      <p:sp>
        <p:nvSpPr>
          <p:cNvPr id="100355" name="Text Box 3"/>
          <p:cNvSpPr txBox="1"/>
          <p:nvPr/>
        </p:nvSpPr>
        <p:spPr>
          <a:xfrm>
            <a:off x="1143000" y="3090863"/>
            <a:ext cx="3962400" cy="30162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           </a:t>
            </a:r>
            <a:r>
              <a:rPr lang="zh-CN" altLang="en-US" sz="3200" b="1" dirty="0">
                <a:latin typeface="Times New Roman" panose="02020603050405020304" pitchFamily="18" charset="0"/>
              </a:rPr>
              <a:t>作者认为生就是死，死就是生，二者不得等量齐观，暗含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有生之年应当做些实事，不宜空谈玄理之意。</a:t>
            </a:r>
          </a:p>
        </p:txBody>
      </p:sp>
      <p:pic>
        <p:nvPicPr>
          <p:cNvPr id="100356" name="Picture 4" descr="御碑亭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124200"/>
            <a:ext cx="3276600" cy="30972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/>
      <p:bldP spid="10035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ChangeArrowheads="1"/>
          </p:cNvSpPr>
          <p:nvPr/>
        </p:nvSpPr>
        <p:spPr bwMode="auto">
          <a:xfrm>
            <a:off x="900113" y="1844675"/>
            <a:ext cx="7802563" cy="3990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两晋政治恐怖，统治集团内部互相倾轧，残杀现象时有发生。士大夫不满，</a:t>
            </a:r>
            <a:r>
              <a:rPr kumimoji="1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普遍崇尚老庄，追求清静无为自由放任的生活。</a:t>
            </a:r>
            <a:r>
              <a:rPr kumimoji="1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玄学盛行，对士人的思想，生活以及文学创作都产生了很复杂的影响。</a:t>
            </a:r>
            <a:r>
              <a:rPr kumimoji="1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文学创作内容消沉，出世入仙和逃避现实的情调很浓。</a:t>
            </a:r>
            <a:r>
              <a:rPr kumimoji="1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东晋时期，清谈老庄玄理的风气很盛，是玄言文学泛滥之时。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ChangeArrowheads="1"/>
          </p:cNvSpPr>
          <p:nvPr/>
        </p:nvSpPr>
        <p:spPr bwMode="auto">
          <a:xfrm>
            <a:off x="827088" y="2420938"/>
            <a:ext cx="7559675" cy="35036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幼圆" pitchFamily="49" charset="-122"/>
                <a:cs typeface="+mn-cs"/>
              </a:rPr>
              <a:t>        </a:t>
            </a:r>
            <a:r>
              <a:rPr kumimoji="1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幼圆" pitchFamily="49" charset="-122"/>
                <a:cs typeface="+mn-cs"/>
              </a:rPr>
              <a:t>东晋是名士风流的时代。他们崇尚老庄，大谈玄理，不务实际，思想虚无，寄情山水，笑傲山野。他们思想消极，行动无为，就像浮萍之于海水，随波荡漾，飘到哪里就是哪里。当然，死了就死了，无所谓，因为死就是生，生就是死，“一死生”“齐彭殇”。</a:t>
            </a:r>
            <a:r>
              <a:rPr kumimoji="1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华文行楷" pitchFamily="2" charset="-122"/>
                <a:cs typeface="+mn-cs"/>
              </a:rPr>
              <a:t> </a:t>
            </a:r>
            <a:endParaRPr kumimoji="1" lang="zh-CN" altLang="en-US" sz="3200" b="1" i="0" u="none" strike="noStrike" kern="1200" cap="none" spc="0" normalizeH="0" baseline="0" noProof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1" name="WordArt 3"/>
          <p:cNvSpPr>
            <a:spLocks noTextEdit="1"/>
          </p:cNvSpPr>
          <p:nvPr/>
        </p:nvSpPr>
        <p:spPr>
          <a:xfrm>
            <a:off x="1187450" y="1341438"/>
            <a:ext cx="6553200" cy="4857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85000" lnSpcReduction="20000"/>
          </a:bodyPr>
          <a:lstStyle/>
          <a:p>
            <a:pPr algn="ctr"/>
            <a:r>
              <a:rPr lang="zh-CN" altLang="en-US" sz="3600" b="1">
                <a:ln w="127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gradFill rotWithShape="1">
                  <a:gsLst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  <a:tileRect/>
                </a:gradFill>
                <a:effectLst>
                  <a:outerShdw dist="35921" dir="2699999" sy="50000" kx="2115830" algn="bl" rotWithShape="0">
                    <a:srgbClr val="C0C0C0"/>
                  </a:outerShdw>
                </a:effectLst>
                <a:latin typeface="华文行楷" charset="0"/>
                <a:ea typeface="华文行楷" charset="0"/>
              </a:rPr>
              <a:t>“一死生”“齐彭殇”</a:t>
            </a:r>
          </a:p>
        </p:txBody>
      </p:sp>
      <p:sp>
        <p:nvSpPr>
          <p:cNvPr id="37892" name="Text Box 4"/>
          <p:cNvSpPr txBox="1"/>
          <p:nvPr/>
        </p:nvSpPr>
        <p:spPr>
          <a:xfrm>
            <a:off x="6705600" y="6096000"/>
            <a:ext cx="144780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hlinkClick r:id="rId2" action="ppaction://hlinkpres?slideindex=1&amp;slidetitle="/>
              </a:rPr>
              <a:t>返</a:t>
            </a:r>
            <a:r>
              <a:rPr lang="zh-CN" altLang="en-US" dirty="0">
                <a:latin typeface="Arial" panose="020B0604020202020204" pitchFamily="34" charset="0"/>
              </a:rPr>
              <a:t>回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827088" y="981075"/>
            <a:ext cx="7704138" cy="4965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    </a:t>
            </a:r>
            <a:r>
              <a:rPr kumimoji="1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王处的时代是政治极为严酷、社会极剧动荡的年代，“天下名士，少有全者”，许多著名的文人都死在残酷的权力斗争中。因此，天下名士，首要任务是保全性命。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佛教、道教徒总是把生死看得很虚无、很超脱，他们</a:t>
            </a:r>
            <a:r>
              <a:rPr kumimoji="1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</a:t>
            </a:r>
            <a:r>
              <a:rPr kumimoji="1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一生死生，齐彭殇</a:t>
            </a:r>
            <a:r>
              <a:rPr kumimoji="1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</a:t>
            </a:r>
            <a:r>
              <a:rPr kumimoji="1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可我们不是神仙道人，是血肉之躯，要珍惜生命，士大夫当</a:t>
            </a:r>
            <a:r>
              <a:rPr kumimoji="1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</a:t>
            </a:r>
            <a:r>
              <a:rPr kumimoji="1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兼济天下</a:t>
            </a:r>
            <a:r>
              <a:rPr kumimoji="1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</a:t>
            </a:r>
            <a:r>
              <a:rPr kumimoji="1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，去实现自己的抱负。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900113" y="836613"/>
            <a:ext cx="7559675" cy="436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sz="40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人类社会从古至今迈进了多少年，人类文明的发展也是今非昔比，但无论世界怎么变化，人类对生命本质（生命、青春、痛苦等等）的体验却是一致的，王羲之也正是道出了这种</a:t>
            </a:r>
            <a:r>
              <a:rPr kumimoji="1" lang="en-US" altLang="zh-CN" sz="40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</a:t>
            </a:r>
            <a:r>
              <a:rPr kumimoji="1" lang="zh-CN" altLang="en-US" sz="40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千古同悲</a:t>
            </a:r>
            <a:r>
              <a:rPr kumimoji="1" lang="en-US" altLang="zh-CN" sz="40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</a:t>
            </a:r>
            <a:r>
              <a:rPr kumimoji="1" lang="zh-CN" altLang="en-US" sz="40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，才如此深深地打动了我们。</a:t>
            </a:r>
            <a:r>
              <a:rPr kumimoji="1" lang="zh-CN" altLang="en-US" sz="40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4000" b="1" i="0" u="none" strike="noStrike" kern="1200" cap="none" spc="0" normalizeH="0" baseline="0" noProof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755650" y="1628775"/>
            <a:ext cx="7777163" cy="3990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sz="3200" b="1" i="1" u="sng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人们因欢聚由乐生悲的感慨是屡见不鲜的</a:t>
            </a:r>
            <a:r>
              <a:rPr kumimoji="1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俗话说“天下没有不散的筵席”。大家难得一聚，是快事、乐事；但有聚就有散，分离诀别更容易使人伤怀！再说相聚是困难的、短暂的，分散是容易的，也是长久的。本来这种聚散两依依的情形已使人感慨万端，再由此使人联想到人生无常、生死相隔，怎不使人悲从中来。 </a:t>
            </a:r>
          </a:p>
        </p:txBody>
      </p:sp>
    </p:spTree>
  </p:cSld>
  <p:clrMapOvr>
    <a:masterClrMapping/>
  </p:clrMapOvr>
  <p:transition>
    <p:blinds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WordArt 2"/>
          <p:cNvSpPr>
            <a:spLocks noTextEdit="1"/>
          </p:cNvSpPr>
          <p:nvPr/>
        </p:nvSpPr>
        <p:spPr>
          <a:xfrm>
            <a:off x="990600" y="304800"/>
            <a:ext cx="68580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 b="1">
                <a:ln w="127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  <a:gradFill rotWithShape="1">
                  <a:gsLst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  <a:tileRect/>
                </a:gradFill>
                <a:effectLst>
                  <a:outerShdw dist="35921" dir="2699999" sy="50000" kx="2115830" algn="bl" rotWithShape="0">
                    <a:srgbClr val="C0C0C0"/>
                  </a:outerShdw>
                </a:effectLst>
                <a:latin typeface="华文中宋" charset="0"/>
                <a:ea typeface="华文中宋" charset="0"/>
              </a:rPr>
              <a:t>文章的思路：</a:t>
            </a:r>
          </a:p>
        </p:txBody>
      </p:sp>
      <p:sp>
        <p:nvSpPr>
          <p:cNvPr id="81923" name="AutoShape 3"/>
          <p:cNvSpPr>
            <a:spLocks noChangeArrowheads="1"/>
          </p:cNvSpPr>
          <p:nvPr/>
        </p:nvSpPr>
        <p:spPr bwMode="auto">
          <a:xfrm>
            <a:off x="457200" y="1524000"/>
            <a:ext cx="2286000" cy="2819400"/>
          </a:xfrm>
          <a:prstGeom prst="smileyFace">
            <a:avLst>
              <a:gd name="adj" fmla="val 4653"/>
            </a:avLst>
          </a:prstGeom>
          <a:noFill/>
          <a:ln w="8890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9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华文行楷" pitchFamily="2" charset="-122"/>
              <a:cs typeface="+mn-cs"/>
            </a:endParaRPr>
          </a:p>
        </p:txBody>
      </p:sp>
      <p:sp>
        <p:nvSpPr>
          <p:cNvPr id="41988" name="WordArt 4"/>
          <p:cNvSpPr>
            <a:spLocks noTextEdit="1"/>
          </p:cNvSpPr>
          <p:nvPr/>
        </p:nvSpPr>
        <p:spPr>
          <a:xfrm>
            <a:off x="1066800" y="304800"/>
            <a:ext cx="68580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 b="1">
                <a:ln w="127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  <a:gradFill rotWithShape="1">
                  <a:gsLst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  <a:tileRect/>
                </a:gradFill>
                <a:effectLst>
                  <a:outerShdw dist="35921" dir="2699999" sy="50000" kx="2115830" algn="bl" rotWithShape="0">
                    <a:srgbClr val="C0C0C0"/>
                  </a:outerShdw>
                </a:effectLst>
                <a:latin typeface="华文中宋" charset="0"/>
                <a:ea typeface="华文中宋" charset="0"/>
              </a:rPr>
              <a:t>文章的思路：</a:t>
            </a:r>
          </a:p>
        </p:txBody>
      </p:sp>
      <p:sp>
        <p:nvSpPr>
          <p:cNvPr id="41989" name="AutoShape 5"/>
          <p:cNvSpPr/>
          <p:nvPr/>
        </p:nvSpPr>
        <p:spPr>
          <a:xfrm>
            <a:off x="4038600" y="1524000"/>
            <a:ext cx="1600200" cy="2590800"/>
          </a:xfrm>
          <a:prstGeom prst="smileyFace">
            <a:avLst>
              <a:gd name="adj" fmla="val -2685"/>
            </a:avLst>
          </a:prstGeom>
          <a:noFill/>
          <a:ln w="1079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90" name="AutoShape 6"/>
          <p:cNvSpPr/>
          <p:nvPr/>
        </p:nvSpPr>
        <p:spPr>
          <a:xfrm>
            <a:off x="7010400" y="1524000"/>
            <a:ext cx="1524000" cy="2590800"/>
          </a:xfrm>
          <a:prstGeom prst="smileyFace">
            <a:avLst>
              <a:gd name="adj" fmla="val -4653"/>
            </a:avLst>
          </a:prstGeom>
          <a:noFill/>
          <a:ln w="1397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1927" name="Rectangle 7"/>
          <p:cNvSpPr>
            <a:spLocks noChangeArrowheads="1"/>
          </p:cNvSpPr>
          <p:nvPr/>
        </p:nvSpPr>
        <p:spPr bwMode="auto">
          <a:xfrm>
            <a:off x="685800" y="4419600"/>
            <a:ext cx="1828800" cy="2057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9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华文行楷" pitchFamily="2" charset="-122"/>
                <a:cs typeface="+mn-cs"/>
              </a:rPr>
              <a:t>乐</a:t>
            </a:r>
          </a:p>
        </p:txBody>
      </p:sp>
      <p:sp>
        <p:nvSpPr>
          <p:cNvPr id="81928" name="Rectangle 8"/>
          <p:cNvSpPr>
            <a:spLocks noChangeArrowheads="1"/>
          </p:cNvSpPr>
          <p:nvPr/>
        </p:nvSpPr>
        <p:spPr bwMode="auto">
          <a:xfrm>
            <a:off x="3810000" y="4495800"/>
            <a:ext cx="1752600" cy="18748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17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华文行楷" pitchFamily="2" charset="-122"/>
                <a:cs typeface="+mn-cs"/>
              </a:rPr>
              <a:t>痛</a:t>
            </a:r>
          </a:p>
        </p:txBody>
      </p:sp>
      <p:sp>
        <p:nvSpPr>
          <p:cNvPr id="81929" name="Rectangle 9"/>
          <p:cNvSpPr>
            <a:spLocks noChangeArrowheads="1"/>
          </p:cNvSpPr>
          <p:nvPr/>
        </p:nvSpPr>
        <p:spPr bwMode="auto">
          <a:xfrm>
            <a:off x="7010400" y="4419600"/>
            <a:ext cx="1673225" cy="18748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17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华文行楷" pitchFamily="2" charset="-122"/>
                <a:cs typeface="+mn-cs"/>
              </a:rPr>
              <a:t>悲</a:t>
            </a:r>
          </a:p>
        </p:txBody>
      </p:sp>
      <p:sp>
        <p:nvSpPr>
          <p:cNvPr id="41994" name="AutoShape 10"/>
          <p:cNvSpPr/>
          <p:nvPr/>
        </p:nvSpPr>
        <p:spPr>
          <a:xfrm>
            <a:off x="2895600" y="2133600"/>
            <a:ext cx="762000" cy="1676400"/>
          </a:xfrm>
          <a:custGeom>
            <a:avLst/>
            <a:gdLst>
              <a:gd name="txL" fmla="*/ 3375 w 21600"/>
              <a:gd name="txT" fmla="*/ 5400 h 21600"/>
              <a:gd name="txR" fmla="*/ 18900 w 21600"/>
              <a:gd name="txB" fmla="*/ 16200 h 21600"/>
            </a:gdLst>
            <a:ahLst/>
            <a:cxnLst>
              <a:cxn ang="17694720">
                <a:pos x="571500" y="0"/>
              </a:cxn>
              <a:cxn ang="11796480">
                <a:pos x="0" y="838200"/>
              </a:cxn>
              <a:cxn ang="5898240">
                <a:pos x="571500" y="1676400"/>
              </a:cxn>
              <a:cxn ang="0">
                <a:pos x="762000" y="838200"/>
              </a:cxn>
            </a:cxnLst>
            <a:rect l="txL" t="txT" r="txR" b="tx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0000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95" name="AutoShape 11"/>
          <p:cNvSpPr/>
          <p:nvPr/>
        </p:nvSpPr>
        <p:spPr>
          <a:xfrm>
            <a:off x="5867400" y="2209800"/>
            <a:ext cx="838200" cy="1676400"/>
          </a:xfrm>
          <a:custGeom>
            <a:avLst/>
            <a:gdLst>
              <a:gd name="txL" fmla="*/ 3375 w 21600"/>
              <a:gd name="txT" fmla="*/ 5400 h 21600"/>
              <a:gd name="txR" fmla="*/ 18900 w 21600"/>
              <a:gd name="txB" fmla="*/ 16200 h 21600"/>
            </a:gdLst>
            <a:ahLst/>
            <a:cxnLst>
              <a:cxn ang="17694720">
                <a:pos x="628650" y="0"/>
              </a:cxn>
              <a:cxn ang="11796480">
                <a:pos x="0" y="838200"/>
              </a:cxn>
              <a:cxn ang="5898240">
                <a:pos x="628650" y="1676400"/>
              </a:cxn>
              <a:cxn ang="0">
                <a:pos x="838200" y="838200"/>
              </a:cxn>
            </a:cxnLst>
            <a:rect l="txL" t="txT" r="txR" b="tx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0000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96" name="AutoShape 12"/>
          <p:cNvSpPr/>
          <p:nvPr/>
        </p:nvSpPr>
        <p:spPr>
          <a:xfrm>
            <a:off x="7391400" y="2590800"/>
            <a:ext cx="152400" cy="457200"/>
          </a:xfrm>
          <a:prstGeom prst="star4">
            <a:avLst>
              <a:gd name="adj" fmla="val 12500"/>
            </a:avLst>
          </a:prstGeom>
          <a:solidFill>
            <a:srgbClr val="000000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97" name="AutoShape 13"/>
          <p:cNvSpPr/>
          <p:nvPr/>
        </p:nvSpPr>
        <p:spPr>
          <a:xfrm>
            <a:off x="7391400" y="2895600"/>
            <a:ext cx="152400" cy="457200"/>
          </a:xfrm>
          <a:prstGeom prst="star4">
            <a:avLst>
              <a:gd name="adj" fmla="val 12500"/>
            </a:avLst>
          </a:prstGeom>
          <a:solidFill>
            <a:srgbClr val="000000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98" name="AutoShape 14"/>
          <p:cNvSpPr/>
          <p:nvPr/>
        </p:nvSpPr>
        <p:spPr>
          <a:xfrm>
            <a:off x="8077200" y="2895600"/>
            <a:ext cx="152400" cy="457200"/>
          </a:xfrm>
          <a:prstGeom prst="star4">
            <a:avLst>
              <a:gd name="adj" fmla="val 12500"/>
            </a:avLst>
          </a:prstGeom>
          <a:solidFill>
            <a:srgbClr val="000000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99" name="AutoShape 15"/>
          <p:cNvSpPr/>
          <p:nvPr/>
        </p:nvSpPr>
        <p:spPr>
          <a:xfrm>
            <a:off x="8077200" y="2590800"/>
            <a:ext cx="152400" cy="457200"/>
          </a:xfrm>
          <a:prstGeom prst="star4">
            <a:avLst>
              <a:gd name="adj" fmla="val 12500"/>
            </a:avLst>
          </a:prstGeom>
          <a:solidFill>
            <a:srgbClr val="000000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1143000"/>
          </a:xfrm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>
                <a:ea typeface="黑体" panose="02010609060101010101" pitchFamily="2" charset="-122"/>
              </a:rPr>
              <a:t>作者思想情感</a:t>
            </a:r>
          </a:p>
        </p:txBody>
      </p:sp>
      <p:sp>
        <p:nvSpPr>
          <p:cNvPr id="43011" name="Oval 3"/>
          <p:cNvSpPr>
            <a:spLocks noGrp="1"/>
          </p:cNvSpPr>
          <p:nvPr>
            <p:ph idx="1"/>
          </p:nvPr>
        </p:nvSpPr>
        <p:spPr>
          <a:xfrm>
            <a:off x="755650" y="2276475"/>
            <a:ext cx="7924800" cy="947738"/>
          </a:xfrm>
          <a:prstGeom prst="ellipse">
            <a:avLst/>
          </a:prstGeom>
          <a:ln/>
        </p:spPr>
        <p:txBody>
          <a:bodyPr vert="horz" wrap="square" lIns="91440" tIns="45720" rIns="91440" bIns="45720" anchor="t"/>
          <a:lstStyle/>
          <a:p>
            <a:pPr eaLnBrk="1" hangingPunct="1">
              <a:buNone/>
            </a:pPr>
            <a:r>
              <a:rPr lang="zh-CN" altLang="en-US" sz="3600" b="1" dirty="0">
                <a:ea typeface="汉仪琥珀体简" pitchFamily="49" charset="-122"/>
              </a:rPr>
              <a:t>思想观点</a:t>
            </a:r>
            <a:r>
              <a:rPr lang="zh-CN" altLang="en-US" sz="3600" dirty="0">
                <a:ea typeface="汉仪琥珀体简" pitchFamily="49" charset="-122"/>
              </a:rPr>
              <a:t>：</a:t>
            </a:r>
            <a:endParaRPr lang="zh-CN" altLang="en-US" b="1" dirty="0"/>
          </a:p>
        </p:txBody>
      </p:sp>
      <p:sp>
        <p:nvSpPr>
          <p:cNvPr id="43012" name="Oval 4"/>
          <p:cNvSpPr/>
          <p:nvPr/>
        </p:nvSpPr>
        <p:spPr>
          <a:xfrm>
            <a:off x="990600" y="4114800"/>
            <a:ext cx="76200" cy="76200"/>
          </a:xfrm>
          <a:prstGeom prst="ellipse">
            <a:avLst/>
          </a:prstGeom>
          <a:noFill/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013" name="Oval 5"/>
          <p:cNvSpPr/>
          <p:nvPr/>
        </p:nvSpPr>
        <p:spPr>
          <a:xfrm>
            <a:off x="1219200" y="3810000"/>
            <a:ext cx="609600" cy="457200"/>
          </a:xfrm>
          <a:prstGeom prst="ellipse">
            <a:avLst/>
          </a:prstGeom>
          <a:noFill/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014" name="Oval 6"/>
          <p:cNvSpPr/>
          <p:nvPr/>
        </p:nvSpPr>
        <p:spPr>
          <a:xfrm>
            <a:off x="-1905000" y="4038600"/>
            <a:ext cx="457200" cy="533400"/>
          </a:xfrm>
          <a:prstGeom prst="ellipse">
            <a:avLst/>
          </a:prstGeom>
          <a:noFill/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015" name="Oval 7"/>
          <p:cNvSpPr/>
          <p:nvPr/>
        </p:nvSpPr>
        <p:spPr>
          <a:xfrm>
            <a:off x="990600" y="3581400"/>
            <a:ext cx="533400" cy="685800"/>
          </a:xfrm>
          <a:prstGeom prst="ellipse">
            <a:avLst/>
          </a:prstGeom>
          <a:noFill/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016" name="Text Box 8"/>
          <p:cNvSpPr txBox="1"/>
          <p:nvPr/>
        </p:nvSpPr>
        <p:spPr>
          <a:xfrm>
            <a:off x="4062413" y="2420938"/>
            <a:ext cx="293687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死生亦大矣。</a:t>
            </a:r>
          </a:p>
        </p:txBody>
      </p:sp>
      <p:sp>
        <p:nvSpPr>
          <p:cNvPr id="43017" name="Text Box 9"/>
          <p:cNvSpPr txBox="1"/>
          <p:nvPr/>
        </p:nvSpPr>
        <p:spPr>
          <a:xfrm>
            <a:off x="2627313" y="4437063"/>
            <a:ext cx="1373187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latin typeface="Tahoma" panose="020B0604030504040204" pitchFamily="34" charset="0"/>
                <a:ea typeface="汉仪琥珀体简" pitchFamily="49" charset="-122"/>
              </a:rPr>
              <a:t>情感</a:t>
            </a:r>
            <a:r>
              <a:rPr lang="zh-CN" altLang="en-US" dirty="0">
                <a:latin typeface="Tahoma" panose="020B0604030504040204" pitchFamily="34" charset="0"/>
                <a:ea typeface="华文行楷" pitchFamily="2" charset="-122"/>
              </a:rPr>
              <a:t> </a:t>
            </a:r>
          </a:p>
        </p:txBody>
      </p:sp>
      <p:sp>
        <p:nvSpPr>
          <p:cNvPr id="43018" name="AutoShape 10"/>
          <p:cNvSpPr/>
          <p:nvPr/>
        </p:nvSpPr>
        <p:spPr>
          <a:xfrm>
            <a:off x="4356100" y="3789363"/>
            <a:ext cx="360363" cy="2232025"/>
          </a:xfrm>
          <a:prstGeom prst="leftBrace">
            <a:avLst>
              <a:gd name="adj1" fmla="val 51615"/>
              <a:gd name="adj2" fmla="val 50000"/>
            </a:avLst>
          </a:prstGeom>
          <a:solidFill>
            <a:schemeClr val="bg1"/>
          </a:solidFill>
          <a:ln w="508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019" name="Text Box 11"/>
          <p:cNvSpPr txBox="1"/>
          <p:nvPr/>
        </p:nvSpPr>
        <p:spPr>
          <a:xfrm>
            <a:off x="4932363" y="2276475"/>
            <a:ext cx="733425" cy="52578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乐  痛   悲</a:t>
            </a:r>
          </a:p>
        </p:txBody>
      </p:sp>
    </p:spTree>
  </p:cSld>
  <p:clrMapOvr>
    <a:masterClrMapping/>
  </p:clrMapOvr>
  <p:transition>
    <p:checker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lantjixu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92725" y="3662363"/>
            <a:ext cx="3851275" cy="31956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1" name="Text Box 3"/>
          <p:cNvSpPr txBox="1"/>
          <p:nvPr/>
        </p:nvSpPr>
        <p:spPr>
          <a:xfrm>
            <a:off x="971550" y="908050"/>
            <a:ext cx="7416800" cy="3503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魏晋社会动荡，战乱频仍，人生无常。文人或关心人生，或逃避现实，这一时期的文学创作，多是对民生疾苦的关怀和对廊清天下的盼望，悲天悯人的情怀和建功立业的抱负互见，呈现出</a:t>
            </a:r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慷慨悲凉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的色彩。这种审美趋向，影响了魏晋文学创作的整个历史时期。</a:t>
            </a:r>
          </a:p>
        </p:txBody>
      </p:sp>
      <p:sp>
        <p:nvSpPr>
          <p:cNvPr id="17412" name="WordArt 4"/>
          <p:cNvSpPr>
            <a:spLocks noTextEdit="1"/>
          </p:cNvSpPr>
          <p:nvPr/>
        </p:nvSpPr>
        <p:spPr>
          <a:xfrm>
            <a:off x="1476375" y="5229225"/>
            <a:ext cx="2519363" cy="7207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 spc="720">
                <a:ln w="9525" cap="flat" cmpd="sng">
                  <a:solidFill>
                    <a:srgbClr val="FF9900"/>
                  </a:solidFill>
                  <a:prstDash val="solid"/>
                  <a:headEnd type="none" w="med" len="med"/>
                  <a:tailEnd type="none" w="med" len="med"/>
                </a:ln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背景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/>
          <p:nvPr/>
        </p:nvSpPr>
        <p:spPr>
          <a:xfrm>
            <a:off x="1905000" y="838200"/>
            <a:ext cx="45720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Times New Roman" panose="02020603050405020304" pitchFamily="18" charset="0"/>
                <a:ea typeface="华文行楷" pitchFamily="2" charset="-122"/>
              </a:rPr>
              <a:t>王羲之</a:t>
            </a:r>
            <a:r>
              <a:rPr lang="en-US" altLang="zh-CN" sz="4000" dirty="0">
                <a:latin typeface="Times New Roman" panose="02020603050405020304" pitchFamily="18" charset="0"/>
                <a:ea typeface="华文行楷" pitchFamily="2" charset="-122"/>
              </a:rPr>
              <a:t>《</a:t>
            </a:r>
            <a:r>
              <a:rPr lang="zh-CN" altLang="en-US" sz="4000" dirty="0">
                <a:latin typeface="Times New Roman" panose="02020603050405020304" pitchFamily="18" charset="0"/>
                <a:ea typeface="华文行楷" pitchFamily="2" charset="-122"/>
              </a:rPr>
              <a:t>兰亭集序</a:t>
            </a:r>
            <a:r>
              <a:rPr lang="en-US" altLang="zh-CN" sz="4000" dirty="0">
                <a:latin typeface="Times New Roman" panose="02020603050405020304" pitchFamily="18" charset="0"/>
                <a:ea typeface="华文行楷" pitchFamily="2" charset="-122"/>
              </a:rPr>
              <a:t>》</a:t>
            </a:r>
          </a:p>
        </p:txBody>
      </p:sp>
      <p:pic>
        <p:nvPicPr>
          <p:cNvPr id="3686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0938"/>
            <a:ext cx="9144000" cy="30178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 descr="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3635375" cy="5143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59" name="Picture 3" descr="jiaguw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25" y="228600"/>
            <a:ext cx="3762375" cy="6076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60" name="Text Box 4"/>
          <p:cNvSpPr txBox="1"/>
          <p:nvPr/>
        </p:nvSpPr>
        <p:spPr>
          <a:xfrm>
            <a:off x="1295400" y="5791200"/>
            <a:ext cx="19812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甲骨文</a:t>
            </a:r>
          </a:p>
        </p:txBody>
      </p:sp>
      <p:sp>
        <p:nvSpPr>
          <p:cNvPr id="45061" name="Text Box 5"/>
          <p:cNvSpPr txBox="1"/>
          <p:nvPr/>
        </p:nvSpPr>
        <p:spPr>
          <a:xfrm>
            <a:off x="3976688" y="457200"/>
            <a:ext cx="671512" cy="10668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itchFamily="2" charset="-122"/>
              </a:rPr>
              <a:t>实物</a:t>
            </a:r>
          </a:p>
        </p:txBody>
      </p:sp>
      <p:sp>
        <p:nvSpPr>
          <p:cNvPr id="45062" name="Text Box 6"/>
          <p:cNvSpPr txBox="1"/>
          <p:nvPr/>
        </p:nvSpPr>
        <p:spPr>
          <a:xfrm>
            <a:off x="4648200" y="5181600"/>
            <a:ext cx="671513" cy="10668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itchFamily="2" charset="-122"/>
              </a:rPr>
              <a:t>拓片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fucha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300" y="152400"/>
            <a:ext cx="4711700" cy="5397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83" name="Picture 3" descr="jinw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13325" cy="6553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4" name="Text Box 4"/>
          <p:cNvSpPr txBox="1"/>
          <p:nvPr/>
        </p:nvSpPr>
        <p:spPr>
          <a:xfrm>
            <a:off x="5181600" y="5943600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大盂鼎</a:t>
            </a:r>
          </a:p>
        </p:txBody>
      </p:sp>
      <p:sp>
        <p:nvSpPr>
          <p:cNvPr id="46085" name="Text Box 5"/>
          <p:cNvSpPr txBox="1"/>
          <p:nvPr/>
        </p:nvSpPr>
        <p:spPr>
          <a:xfrm>
            <a:off x="6705600" y="5943600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攻吴王夫差鉴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 descr="xiaozhu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381000"/>
            <a:ext cx="2492375" cy="4229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7" name="Picture 3" descr="shig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28600"/>
            <a:ext cx="3435350" cy="6465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08" name="Text Box 4"/>
          <p:cNvSpPr txBox="1"/>
          <p:nvPr/>
        </p:nvSpPr>
        <p:spPr>
          <a:xfrm>
            <a:off x="6019800" y="5486400"/>
            <a:ext cx="13716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篆书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qinl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3079750" cy="5334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1" name="Text Box 3"/>
          <p:cNvSpPr txBox="1"/>
          <p:nvPr/>
        </p:nvSpPr>
        <p:spPr>
          <a:xfrm>
            <a:off x="1600200" y="5943600"/>
            <a:ext cx="13716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秦隶</a:t>
            </a:r>
          </a:p>
        </p:txBody>
      </p:sp>
      <p:sp>
        <p:nvSpPr>
          <p:cNvPr id="48132" name="Text Box 4"/>
          <p:cNvSpPr txBox="1"/>
          <p:nvPr/>
        </p:nvSpPr>
        <p:spPr>
          <a:xfrm>
            <a:off x="6096000" y="5943600"/>
            <a:ext cx="12192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汉隶</a:t>
            </a:r>
          </a:p>
        </p:txBody>
      </p:sp>
      <p:pic>
        <p:nvPicPr>
          <p:cNvPr id="48133" name="Picture 5" descr="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457200"/>
            <a:ext cx="3146425" cy="5334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caosh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2552700" cy="6115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55" name="Picture 3" descr="zhangxu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28600"/>
            <a:ext cx="2857500" cy="568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156" name="Text Box 4"/>
          <p:cNvSpPr txBox="1"/>
          <p:nvPr/>
        </p:nvSpPr>
        <p:spPr>
          <a:xfrm>
            <a:off x="3733800" y="2209800"/>
            <a:ext cx="793750" cy="13716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草书</a:t>
            </a:r>
          </a:p>
        </p:txBody>
      </p:sp>
      <p:sp>
        <p:nvSpPr>
          <p:cNvPr id="49157" name="Text Box 5"/>
          <p:cNvSpPr txBox="1"/>
          <p:nvPr/>
        </p:nvSpPr>
        <p:spPr>
          <a:xfrm>
            <a:off x="685800" y="6172200"/>
            <a:ext cx="2286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行楷" pitchFamily="2" charset="-122"/>
              </a:rPr>
              <a:t>王羲之行穰贴</a:t>
            </a:r>
          </a:p>
        </p:txBody>
      </p:sp>
      <p:sp>
        <p:nvSpPr>
          <p:cNvPr id="49158" name="Text Box 6"/>
          <p:cNvSpPr txBox="1"/>
          <p:nvPr/>
        </p:nvSpPr>
        <p:spPr>
          <a:xfrm>
            <a:off x="5334000" y="6172200"/>
            <a:ext cx="3200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行楷" pitchFamily="2" charset="-122"/>
              </a:rPr>
              <a:t>张旭作品（局部）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zhangxu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4800"/>
            <a:ext cx="8001000" cy="31257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179" name="Picture 3" descr="zhangxu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82963"/>
            <a:ext cx="8001000" cy="3111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80" name="Text Box 4"/>
          <p:cNvSpPr txBox="1"/>
          <p:nvPr/>
        </p:nvSpPr>
        <p:spPr>
          <a:xfrm>
            <a:off x="0" y="2057400"/>
            <a:ext cx="793750" cy="3200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行楷" pitchFamily="2" charset="-122"/>
              </a:rPr>
              <a:t>张 旭 草 书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nanj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04800"/>
            <a:ext cx="4857750" cy="6286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03" name="Text Box 3"/>
          <p:cNvSpPr txBox="1"/>
          <p:nvPr/>
        </p:nvSpPr>
        <p:spPr>
          <a:xfrm>
            <a:off x="762000" y="1219200"/>
            <a:ext cx="793750" cy="41148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毛泽东书法作品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duobao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1000"/>
            <a:ext cx="6680200" cy="609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27" name="Text Box 3"/>
          <p:cNvSpPr txBox="1"/>
          <p:nvPr/>
        </p:nvSpPr>
        <p:spPr>
          <a:xfrm>
            <a:off x="7772400" y="1371600"/>
            <a:ext cx="793750" cy="4794250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颜真卿 </a:t>
            </a:r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------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隶书" pitchFamily="49" charset="-122"/>
              </a:rPr>
              <a:t>多宝塔埤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yim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0"/>
            <a:ext cx="5181600" cy="5753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51" name="Picture 3" descr="chibif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0"/>
            <a:ext cx="3656013" cy="6748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252" name="Text Box 4"/>
          <p:cNvSpPr txBox="1"/>
          <p:nvPr/>
        </p:nvSpPr>
        <p:spPr>
          <a:xfrm>
            <a:off x="0" y="304800"/>
            <a:ext cx="793750" cy="5105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苏轼</a:t>
            </a:r>
            <a:r>
              <a:rPr lang="en-US" altLang="zh-CN" sz="4000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------</a:t>
            </a:r>
            <a:r>
              <a:rPr lang="zh-CN" altLang="en-US" sz="4000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赤壁赋</a:t>
            </a:r>
          </a:p>
        </p:txBody>
      </p:sp>
      <p:sp>
        <p:nvSpPr>
          <p:cNvPr id="53253" name="Text Box 5"/>
          <p:cNvSpPr txBox="1"/>
          <p:nvPr/>
        </p:nvSpPr>
        <p:spPr>
          <a:xfrm>
            <a:off x="5181600" y="6096000"/>
            <a:ext cx="3429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王羲之</a:t>
            </a:r>
            <a:r>
              <a:rPr lang="en-US" altLang="zh-CN" sz="3200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---</a:t>
            </a:r>
            <a:r>
              <a:rPr lang="zh-CN" altLang="en-US" sz="3200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姨母贴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qigo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3722688" cy="6172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275" name="Picture 3" descr="mif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381000"/>
            <a:ext cx="4457700" cy="4400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276" name="Text Box 4"/>
          <p:cNvSpPr txBox="1"/>
          <p:nvPr/>
        </p:nvSpPr>
        <p:spPr>
          <a:xfrm>
            <a:off x="4495800" y="5334000"/>
            <a:ext cx="12192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华文行楷" pitchFamily="2" charset="-122"/>
              </a:rPr>
              <a:t>启功作品</a:t>
            </a:r>
          </a:p>
        </p:txBody>
      </p:sp>
      <p:sp>
        <p:nvSpPr>
          <p:cNvPr id="54277" name="Text Box 5"/>
          <p:cNvSpPr txBox="1"/>
          <p:nvPr/>
        </p:nvSpPr>
        <p:spPr>
          <a:xfrm>
            <a:off x="5943600" y="5257800"/>
            <a:ext cx="2743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行楷" pitchFamily="2" charset="-122"/>
              </a:rPr>
              <a:t>启功临米芾作品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2762</Words>
  <Application>Microsoft Office PowerPoint</Application>
  <PresentationFormat>全屏显示(4:3)</PresentationFormat>
  <Paragraphs>222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8" baseType="lpstr">
      <vt:lpstr>汉仪琥珀体简</vt:lpstr>
      <vt:lpstr>黑体</vt:lpstr>
      <vt:lpstr>华文彩云</vt:lpstr>
      <vt:lpstr>华文行楷</vt:lpstr>
      <vt:lpstr>华文新魏</vt:lpstr>
      <vt:lpstr>华文中宋</vt:lpstr>
      <vt:lpstr>楷体</vt:lpstr>
      <vt:lpstr>楷体_GB2312</vt:lpstr>
      <vt:lpstr>隶书</vt:lpstr>
      <vt:lpstr>迷你简硬笔楷书</vt:lpstr>
      <vt:lpstr>宋体</vt:lpstr>
      <vt:lpstr>幼圆</vt:lpstr>
      <vt:lpstr>Arial</vt:lpstr>
      <vt:lpstr>Tahoma</vt:lpstr>
      <vt:lpstr>Times New Roman</vt:lpstr>
      <vt:lpstr>Wingdings</vt:lpstr>
      <vt:lpstr>默认设计模板</vt:lpstr>
      <vt:lpstr>1_默认设计模板</vt:lpstr>
      <vt:lpstr>Imaging.Document</vt:lpstr>
      <vt:lpstr>PowerPoint 演示文稿</vt:lpstr>
      <vt:lpstr>PowerPoint 演示文稿</vt:lpstr>
      <vt:lpstr>     关于《兰亭集序》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作者思想情感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seewo</cp:lastModifiedBy>
  <cp:revision>37</cp:revision>
  <dcterms:created xsi:type="dcterms:W3CDTF">2020-09-27T01:32:39Z</dcterms:created>
  <dcterms:modified xsi:type="dcterms:W3CDTF">2020-09-28T02:08:00Z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2052-11.1.0.9998</vt:lpwstr>
  </property>
</Properties>
</file>